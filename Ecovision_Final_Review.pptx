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handoutMasterIdLst>
    <p:handoutMasterId r:id="rId46"/>
  </p:handoutMasterIdLst>
  <p:sldIdLst>
    <p:sldId id="400" r:id="rId2"/>
    <p:sldId id="438" r:id="rId3"/>
    <p:sldId id="401" r:id="rId4"/>
    <p:sldId id="402" r:id="rId5"/>
    <p:sldId id="403" r:id="rId6"/>
    <p:sldId id="404" r:id="rId7"/>
    <p:sldId id="406" r:id="rId8"/>
    <p:sldId id="405" r:id="rId9"/>
    <p:sldId id="407" r:id="rId10"/>
    <p:sldId id="408" r:id="rId11"/>
    <p:sldId id="410" r:id="rId12"/>
    <p:sldId id="411" r:id="rId13"/>
    <p:sldId id="441" r:id="rId14"/>
    <p:sldId id="439" r:id="rId15"/>
    <p:sldId id="412" r:id="rId16"/>
    <p:sldId id="413" r:id="rId17"/>
    <p:sldId id="414" r:id="rId18"/>
    <p:sldId id="415" r:id="rId19"/>
    <p:sldId id="416" r:id="rId20"/>
    <p:sldId id="417" r:id="rId21"/>
    <p:sldId id="418" r:id="rId22"/>
    <p:sldId id="419" r:id="rId23"/>
    <p:sldId id="420" r:id="rId24"/>
    <p:sldId id="440" r:id="rId25"/>
    <p:sldId id="421" r:id="rId26"/>
    <p:sldId id="422" r:id="rId27"/>
    <p:sldId id="423" r:id="rId28"/>
    <p:sldId id="424" r:id="rId29"/>
    <p:sldId id="437" r:id="rId30"/>
    <p:sldId id="442" r:id="rId31"/>
    <p:sldId id="443" r:id="rId32"/>
    <p:sldId id="444" r:id="rId33"/>
    <p:sldId id="425" r:id="rId34"/>
    <p:sldId id="426" r:id="rId35"/>
    <p:sldId id="428" r:id="rId36"/>
    <p:sldId id="427" r:id="rId37"/>
    <p:sldId id="430" r:id="rId38"/>
    <p:sldId id="431" r:id="rId39"/>
    <p:sldId id="432" r:id="rId40"/>
    <p:sldId id="433" r:id="rId41"/>
    <p:sldId id="434" r:id="rId42"/>
    <p:sldId id="435" r:id="rId43"/>
    <p:sldId id="43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344" autoAdjust="0"/>
  </p:normalViewPr>
  <p:slideViewPr>
    <p:cSldViewPr snapToGrid="0">
      <p:cViewPr varScale="1">
        <p:scale>
          <a:sx n="64" d="100"/>
          <a:sy n="64" d="100"/>
        </p:scale>
        <p:origin x="680" y="5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pPr/>
              <a:t>08-03-2026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pPr/>
              <a:t>08-03-2026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pPr algn="ct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ECOVISION: Deep Learning-Based Seasonal Detection</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6095991"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Maneedeep M</a:t>
            </a:r>
            <a:endParaRPr lang="en-US" sz="5400" b="0" dirty="0">
              <a:effectLst>
                <a:outerShdw blurRad="38100" dist="38100" dir="2700000" algn="tl">
                  <a:srgbClr val="000000">
                    <a:alpha val="43137"/>
                  </a:srgbClr>
                </a:outerShdw>
              </a:effectLst>
            </a:endParaRPr>
          </a:p>
          <a:p>
            <a:pPr>
              <a:spcBef>
                <a:spcPts val="300"/>
              </a:spcBef>
            </a:pPr>
            <a:r>
              <a:rPr lang="en-US" sz="2800" b="0" dirty="0"/>
              <a:t>Roll No. 234G5A0505</a:t>
            </a:r>
          </a:p>
        </p:txBody>
      </p:sp>
      <p:sp>
        <p:nvSpPr>
          <p:cNvPr id="2" name="Subtitle 11"/>
          <p:cNvSpPr txBox="1"/>
          <p:nvPr/>
        </p:nvSpPr>
        <p:spPr>
          <a:xfrm>
            <a:off x="3759654" y="2226365"/>
            <a:ext cx="4672674" cy="135172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400" b="0" i="1" dirty="0"/>
          </a:p>
          <a:p>
            <a:pPr>
              <a:lnSpc>
                <a:spcPts val="1625"/>
              </a:lnSpc>
              <a:spcBef>
                <a:spcPts val="100"/>
              </a:spcBef>
            </a:pPr>
            <a:r>
              <a:rPr lang="en-US" altLang="en-US" sz="1600" b="0" dirty="0">
                <a:solidFill>
                  <a:srgbClr val="000000"/>
                </a:solidFill>
              </a:rPr>
              <a:t>Under the guidance of</a:t>
            </a:r>
          </a:p>
          <a:p>
            <a:pPr>
              <a:lnSpc>
                <a:spcPts val="2790"/>
              </a:lnSpc>
              <a:spcBef>
                <a:spcPts val="115"/>
              </a:spcBef>
            </a:pPr>
            <a:r>
              <a:rPr lang="en-US" altLang="en-US" sz="2400" b="0" dirty="0">
                <a:solidFill>
                  <a:srgbClr val="000000"/>
                </a:solidFill>
              </a:rPr>
              <a:t>Dr. P Veera Prakash </a:t>
            </a:r>
            <a:r>
              <a:rPr lang="en-US" altLang="en-US" sz="2400" b="0" baseline="-25000" dirty="0" err="1">
                <a:solidFill>
                  <a:srgbClr val="000000"/>
                </a:solidFill>
              </a:rPr>
              <a:t>M.Tech</a:t>
            </a:r>
            <a:r>
              <a:rPr lang="en-US" altLang="en-US" sz="2400" b="0" baseline="-25000" dirty="0">
                <a:solidFill>
                  <a:srgbClr val="000000"/>
                </a:solidFill>
              </a:rPr>
              <a:t>.,</a:t>
            </a:r>
            <a:r>
              <a:rPr lang="en-US" altLang="en-US" sz="2400" b="0" dirty="0">
                <a:solidFill>
                  <a:srgbClr val="000000"/>
                </a:solidFill>
              </a:rPr>
              <a:t> </a:t>
            </a:r>
            <a:r>
              <a:rPr lang="en-US" altLang="en-US" sz="2400" b="0" baseline="-25000" dirty="0" err="1">
                <a:solidFill>
                  <a:srgbClr val="000000"/>
                </a:solidFill>
              </a:rPr>
              <a:t>Ph.D</a:t>
            </a:r>
            <a:endParaRPr lang="en-US" altLang="en-US" sz="2400" b="0" baseline="-25000" dirty="0">
              <a:solidFill>
                <a:srgbClr val="000000"/>
              </a:solidFill>
            </a:endParaRPr>
          </a:p>
          <a:p>
            <a:pPr>
              <a:lnSpc>
                <a:spcPts val="2790"/>
              </a:lnSpc>
              <a:spcBef>
                <a:spcPts val="115"/>
              </a:spcBef>
            </a:pPr>
            <a:r>
              <a:rPr lang="en-IN" altLang="en-US" sz="2400" b="0" baseline="-25000" dirty="0">
                <a:solidFill>
                  <a:srgbClr val="000000"/>
                </a:solidFill>
              </a:rPr>
              <a:t>Assistant Professor &amp; HOD</a:t>
            </a:r>
            <a:endParaRPr lang="en-US" altLang="en-US" sz="2400" b="0" baseline="-25000" dirty="0">
              <a:solidFill>
                <a:srgbClr val="000000"/>
              </a:solidFill>
            </a:endParaRPr>
          </a:p>
          <a:p>
            <a:pPr>
              <a:lnSpc>
                <a:spcPts val="2790"/>
              </a:lnSpc>
              <a:spcBef>
                <a:spcPts val="115"/>
              </a:spcBef>
            </a:pPr>
            <a:endParaRPr lang="en-IN" altLang="en-US" sz="2400" b="0" dirty="0">
              <a:solidFill>
                <a:srgbClr val="000000"/>
              </a:solidFill>
            </a:endParaRPr>
          </a:p>
          <a:p>
            <a:pPr>
              <a:lnSpc>
                <a:spcPts val="2790"/>
              </a:lnSpc>
              <a:spcBef>
                <a:spcPts val="115"/>
              </a:spcBef>
            </a:pPr>
            <a:endParaRPr lang="en-US" altLang="en-US" sz="2400" b="0" dirty="0">
              <a:solidFill>
                <a:srgbClr val="000000"/>
              </a:solidFill>
              <a:ea typeface="Times New Roman" panose="02020603050405020304" pitchFamily="18" charset="0"/>
            </a:endParaRPr>
          </a:p>
          <a:p>
            <a:pPr>
              <a:spcBef>
                <a:spcPts val="300"/>
              </a:spcBef>
            </a:pPr>
            <a:endParaRPr lang="en-IN" sz="2400" b="0" dirty="0"/>
          </a:p>
          <a:p>
            <a:pPr>
              <a:spcBef>
                <a:spcPts val="200"/>
              </a:spcBef>
            </a:pPr>
            <a:endParaRPr lang="en-IN" sz="2400" b="0" dirty="0">
              <a:effectLst>
                <a:outerShdw blurRad="38100" dist="38100" dir="2700000" algn="tl">
                  <a:srgbClr val="000000">
                    <a:alpha val="43137"/>
                  </a:srgbClr>
                </a:outerShdw>
              </a:effectLst>
            </a:endParaRPr>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3574384"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a:effectLst>
                  <a:outerShdw blurRad="38100" dist="38100" dir="2700000" algn="tl">
                    <a:srgbClr val="000000">
                      <a:alpha val="43137"/>
                    </a:srgbClr>
                  </a:outerShdw>
                </a:effectLst>
              </a:rPr>
              <a:t>Sharath Kumar M</a:t>
            </a:r>
            <a:endParaRPr lang="en-US" sz="2600" b="0" dirty="0">
              <a:effectLst>
                <a:outerShdw blurRad="38100" dist="38100" dir="2700000" algn="tl">
                  <a:srgbClr val="000000">
                    <a:alpha val="43137"/>
                  </a:srgbClr>
                </a:outerShdw>
              </a:effectLst>
            </a:endParaRPr>
          </a:p>
          <a:p>
            <a:pPr>
              <a:spcBef>
                <a:spcPts val="300"/>
              </a:spcBef>
            </a:pPr>
            <a:r>
              <a:rPr lang="en-US" sz="1200" b="0" dirty="0"/>
              <a:t>Roll No. 224G1A0598</a:t>
            </a:r>
          </a:p>
        </p:txBody>
      </p:sp>
      <p:sp>
        <p:nvSpPr>
          <p:cNvPr id="9" name="Subtitle 11"/>
          <p:cNvSpPr txBox="1"/>
          <p:nvPr/>
        </p:nvSpPr>
        <p:spPr>
          <a:xfrm>
            <a:off x="8617598"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 </a:t>
            </a:r>
            <a:endParaRPr lang="en-US" sz="5400" b="0" dirty="0">
              <a:effectLst>
                <a:outerShdw blurRad="38100" dist="38100" dir="2700000" algn="tl">
                  <a:srgbClr val="000000">
                    <a:alpha val="43137"/>
                  </a:srgbClr>
                </a:outerShdw>
              </a:effectLst>
            </a:endParaRPr>
          </a:p>
          <a:p>
            <a:pPr>
              <a:spcBef>
                <a:spcPts val="300"/>
              </a:spcBef>
            </a:pPr>
            <a:r>
              <a:rPr lang="en-US" sz="2800" b="0" dirty="0"/>
              <a:t> </a:t>
            </a:r>
          </a:p>
        </p:txBody>
      </p:sp>
      <p:sp>
        <p:nvSpPr>
          <p:cNvPr id="10" name="Subtitle 11"/>
          <p:cNvSpPr txBox="1"/>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Sharath V</a:t>
            </a:r>
          </a:p>
          <a:p>
            <a:pPr>
              <a:spcBef>
                <a:spcPts val="300"/>
              </a:spcBef>
            </a:pPr>
            <a:r>
              <a:rPr lang="en-US" sz="1200" b="0" dirty="0"/>
              <a:t>Roll No. 224G1A0599</a:t>
            </a:r>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ECOVISION: Deep Learning model for Seasonal Detection</a:t>
            </a: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4A2E-772C-4E9B-B4C1-739790751F16}"/>
              </a:ext>
            </a:extLst>
          </p:cNvPr>
          <p:cNvSpPr>
            <a:spLocks noGrp="1"/>
          </p:cNvSpPr>
          <p:nvPr>
            <p:ph type="title"/>
          </p:nvPr>
        </p:nvSpPr>
        <p:spPr/>
        <p:txBody>
          <a:bodyPr/>
          <a:lstStyle/>
          <a:p>
            <a:r>
              <a:rPr lang="en-US" dirty="0"/>
              <a:t>Comments</a:t>
            </a:r>
            <a:endParaRPr lang="en-IN" dirty="0"/>
          </a:p>
        </p:txBody>
      </p:sp>
      <p:sp>
        <p:nvSpPr>
          <p:cNvPr id="3" name="Content Placeholder 2">
            <a:extLst>
              <a:ext uri="{FF2B5EF4-FFF2-40B4-BE49-F238E27FC236}">
                <a16:creationId xmlns:a16="http://schemas.microsoft.com/office/drawing/2014/main" id="{9FAD5A9D-B408-4A75-BCB7-22F23BC4F1F7}"/>
              </a:ext>
            </a:extLst>
          </p:cNvPr>
          <p:cNvSpPr>
            <a:spLocks noGrp="1"/>
          </p:cNvSpPr>
          <p:nvPr>
            <p:ph idx="1"/>
          </p:nvPr>
        </p:nvSpPr>
        <p:spPr/>
        <p:txBody>
          <a:bodyPr/>
          <a:lstStyle/>
          <a:p>
            <a:r>
              <a:rPr lang="en-US" dirty="0"/>
              <a:t>Panel members raised comments like:</a:t>
            </a:r>
          </a:p>
          <a:p>
            <a:pPr marL="514350" indent="-514350">
              <a:buAutoNum type="arabicPeriod"/>
            </a:pPr>
            <a:r>
              <a:rPr lang="en-US" dirty="0"/>
              <a:t>Can your project work with different geographical locations?</a:t>
            </a:r>
          </a:p>
          <a:p>
            <a:pPr marL="514350" indent="-514350">
              <a:buAutoNum type="arabicPeriod"/>
            </a:pPr>
            <a:r>
              <a:rPr lang="en-US" dirty="0"/>
              <a:t>Suggested to compare results with existing seasonal detection methods?</a:t>
            </a:r>
          </a:p>
          <a:p>
            <a:pPr marL="0" indent="0">
              <a:buNone/>
            </a:pPr>
            <a:r>
              <a:rPr lang="en-US" dirty="0"/>
              <a:t>3.   How effective your model</a:t>
            </a:r>
            <a:r>
              <a:rPr lang="en-US" b="1" dirty="0"/>
              <a:t>(Hybrid fusion Model) </a:t>
            </a:r>
            <a:r>
              <a:rPr lang="en-US" dirty="0"/>
              <a:t>is?</a:t>
            </a:r>
          </a:p>
          <a:p>
            <a:pPr marL="0" indent="0">
              <a:buNone/>
            </a:pPr>
            <a:r>
              <a:rPr lang="en-US" dirty="0"/>
              <a:t>4.   What is </a:t>
            </a:r>
            <a:r>
              <a:rPr lang="en-US" b="1" dirty="0"/>
              <a:t>Hybrid fusion Model </a:t>
            </a:r>
            <a:r>
              <a:rPr lang="en-US" dirty="0"/>
              <a:t>Accuracy,Precision,Recall,F1 Score?</a:t>
            </a:r>
          </a:p>
          <a:p>
            <a:pPr marL="514350" indent="-514350">
              <a:buAutoNum type="arabicPeriod" startAt="5"/>
            </a:pPr>
            <a:r>
              <a:rPr lang="en-US" dirty="0"/>
              <a:t>C</a:t>
            </a:r>
            <a:r>
              <a:rPr lang="en-IN" dirty="0"/>
              <a:t>an we automate the environmental parameters in real world cases?</a:t>
            </a:r>
          </a:p>
          <a:p>
            <a:pPr marL="514350" indent="-514350">
              <a:buAutoNum type="arabicPeriod" startAt="5"/>
            </a:pPr>
            <a:r>
              <a:rPr lang="en-US" dirty="0"/>
              <a:t>A</a:t>
            </a:r>
            <a:r>
              <a:rPr lang="en-IN" dirty="0"/>
              <a:t>sked about tools in the project?</a:t>
            </a:r>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326419D1-44E5-4194-9BCB-CAB7C7E8BD29}"/>
              </a:ext>
            </a:extLst>
          </p:cNvPr>
          <p:cNvPicPr>
            <a:picLocks noChangeAspect="1"/>
          </p:cNvPicPr>
          <p:nvPr/>
        </p:nvPicPr>
        <p:blipFill>
          <a:blip r:embed="rId2"/>
          <a:stretch>
            <a:fillRect/>
          </a:stretch>
        </p:blipFill>
        <p:spPr>
          <a:xfrm>
            <a:off x="28683" y="6632493"/>
            <a:ext cx="11480830" cy="211434"/>
          </a:xfrm>
          <a:prstGeom prst="rect">
            <a:avLst/>
          </a:prstGeom>
        </p:spPr>
      </p:pic>
    </p:spTree>
    <p:extLst>
      <p:ext uri="{BB962C8B-B14F-4D97-AF65-F5344CB8AC3E}">
        <p14:creationId xmlns:p14="http://schemas.microsoft.com/office/powerpoint/2010/main" val="3428218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a:t>
            </a:r>
          </a:p>
          <a:p>
            <a:pPr marL="462280" indent="-462280">
              <a:buBlip>
                <a:blip r:embed="rId2">
                  <a:extLst>
                    <a:ext uri="{96DAC541-7B7A-43D3-8B79-37D633B846F1}">
                      <asvg:svgBlip xmlns:asvg="http://schemas.microsoft.com/office/drawing/2016/SVG/main" r:embed="rId3"/>
                    </a:ext>
                  </a:extLst>
                </a:blip>
              </a:buBlip>
            </a:pPr>
            <a:r>
              <a:rPr lang="en-US" dirty="0"/>
              <a:t>Design</a:t>
            </a:r>
          </a:p>
          <a:p>
            <a:pPr marL="462280" indent="-462280">
              <a:buBlip>
                <a:blip r:embed="rId2">
                  <a:extLst>
                    <a:ext uri="{96DAC541-7B7A-43D3-8B79-37D633B846F1}">
                      <asvg:svgBlip xmlns:asvg="http://schemas.microsoft.com/office/drawing/2016/SVG/main" r:embed="rId3"/>
                    </a:ext>
                  </a:extLst>
                </a:blip>
              </a:buBlip>
            </a:pPr>
            <a:r>
              <a:rPr lang="en-US" dirty="0"/>
              <a:t>Implementation</a:t>
            </a:r>
          </a:p>
          <a:p>
            <a:pPr marL="462280" indent="-462280">
              <a:buBlip>
                <a:blip r:embed="rId2">
                  <a:extLst>
                    <a:ext uri="{96DAC541-7B7A-43D3-8B79-37D633B846F1}">
                      <asvg:svgBlip xmlns:asvg="http://schemas.microsoft.com/office/drawing/2016/SVG/main" r:embed="rId3"/>
                    </a:ext>
                  </a:extLst>
                </a:blip>
              </a:buBlip>
            </a:pPr>
            <a:r>
              <a:rPr lang="en-US" dirty="0"/>
              <a:t>Research Paper</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p>
          <a:p>
            <a:pPr marL="462280" indent="-462280">
              <a:buBlip>
                <a:blip r:embed="rId2">
                  <a:extLst>
                    <a:ext uri="{96DAC541-7B7A-43D3-8B79-37D633B846F1}">
                      <asvg:svgBlip xmlns:asvg="http://schemas.microsoft.com/office/drawing/2016/SVG/main" r:embed="rId3"/>
                    </a:ext>
                  </a:extLst>
                </a:blip>
              </a:buBlip>
            </a:pPr>
            <a:r>
              <a:rPr lang="en-IN" dirty="0"/>
              <a:t>GitHub Link</a:t>
            </a:r>
            <a:endParaRPr lang="en-US" dirty="0"/>
          </a:p>
          <a:p>
            <a:pPr marL="0" indent="0">
              <a:buNone/>
            </a:pPr>
            <a:endParaRPr lang="en-IN" dirty="0"/>
          </a:p>
        </p:txBody>
      </p:sp>
      <p:pic>
        <p:nvPicPr>
          <p:cNvPr id="4" name="Picture 3">
            <a:extLst>
              <a:ext uri="{FF2B5EF4-FFF2-40B4-BE49-F238E27FC236}">
                <a16:creationId xmlns:a16="http://schemas.microsoft.com/office/drawing/2014/main" id="{98943F6C-A741-4F01-A5B9-52803184298E}"/>
              </a:ext>
            </a:extLst>
          </p:cNvPr>
          <p:cNvPicPr>
            <a:picLocks noChangeAspect="1"/>
          </p:cNvPicPr>
          <p:nvPr/>
        </p:nvPicPr>
        <p:blipFill>
          <a:blip r:embed="rId4"/>
          <a:stretch>
            <a:fillRect/>
          </a:stretch>
        </p:blipFill>
        <p:spPr>
          <a:xfrm>
            <a:off x="14660" y="6662931"/>
            <a:ext cx="752580" cy="1714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3" name="Content Placeholder 2"/>
          <p:cNvSpPr>
            <a:spLocks noGrp="1"/>
          </p:cNvSpPr>
          <p:nvPr>
            <p:ph idx="1"/>
          </p:nvPr>
        </p:nvSpPr>
        <p:spPr/>
        <p:txBody>
          <a:bodyPr>
            <a:normAutofit/>
          </a:bodyPr>
          <a:lstStyle/>
          <a:p>
            <a:pPr marL="355600" indent="-342900">
              <a:lnSpc>
                <a:spcPct val="120000"/>
              </a:lnSpc>
              <a:spcBef>
                <a:spcPts val="100"/>
              </a:spcBef>
              <a:buFont typeface="Arial" panose="020B0604020202020204" pitchFamily="34" charset="0"/>
              <a:buChar char="•"/>
            </a:pPr>
            <a:r>
              <a:rPr lang="en-US" sz="1800" dirty="0"/>
              <a:t>Seasonal changes play a critical role in plant growth, agricultural planning, and environmental monitoring, yet conventional seasonal identification methods rely heavily on manual observation or isolated climatic data, leading to inconsistent results. To address this challenge, this research introduces </a:t>
            </a:r>
            <a:r>
              <a:rPr lang="en-US" sz="1800" b="1" dirty="0" err="1"/>
              <a:t>Ecovision</a:t>
            </a:r>
            <a:r>
              <a:rPr lang="en-US" sz="1800" dirty="0"/>
              <a:t>, a deep learning–based seasonal detection system that predicts the current season using a plant/tree image combined with environmental parameters such as temperature, humidity, precipitation, pressure, wind speed, soil moisture, cloud visibility, and solar radiation. The main objective of the study is to develop a multimodal AI model that integrates </a:t>
            </a:r>
            <a:r>
              <a:rPr lang="en-US" sz="1800" b="1" dirty="0"/>
              <a:t>Convolutional Neural Networks (CNNs)</a:t>
            </a:r>
            <a:r>
              <a:rPr lang="en-US" sz="1800" dirty="0"/>
              <a:t> for image feature extraction with machine learning–based processing of climatic parameters to achieve high prediction accuracy.</a:t>
            </a:r>
          </a:p>
          <a:p>
            <a:pPr marL="355600" indent="-342900">
              <a:lnSpc>
                <a:spcPct val="120000"/>
              </a:lnSpc>
              <a:spcBef>
                <a:spcPts val="100"/>
              </a:spcBef>
              <a:buFont typeface="Arial" panose="020B0604020202020204" pitchFamily="34" charset="0"/>
              <a:buChar char="•"/>
            </a:pPr>
            <a:endParaRPr lang="en-US" sz="1800" dirty="0"/>
          </a:p>
          <a:p>
            <a:pPr marL="355600" indent="-342900">
              <a:lnSpc>
                <a:spcPct val="120000"/>
              </a:lnSpc>
              <a:spcBef>
                <a:spcPts val="100"/>
              </a:spcBef>
              <a:buFont typeface="Arial" panose="020B0604020202020204" pitchFamily="34" charset="0"/>
              <a:buChar char="•"/>
            </a:pPr>
            <a:r>
              <a:rPr lang="en-US" sz="1800" dirty="0"/>
              <a:t>The model was trained using a curated dataset linking plant phenological images with weather conditions, and the fusion of both data streams significantly improved classification performance. The results demonstrate that the hybrid model outperforms traditional single-input approaches, providing accurate and reliable seasonal predictions. This work concludes that </a:t>
            </a:r>
            <a:r>
              <a:rPr lang="en-US" sz="1800" dirty="0" err="1"/>
              <a:t>Ecovision</a:t>
            </a:r>
            <a:r>
              <a:rPr lang="en-US" sz="1800" dirty="0"/>
              <a:t> offers a scalable and intelligent solution for agriculture, ecological research, and climate-based decision-making, highlighting the potential of AI to enhance environmental understanding and sustainable practices.</a:t>
            </a:r>
          </a:p>
          <a:p>
            <a:pPr marL="0" indent="0">
              <a:buNone/>
            </a:pPr>
            <a:endParaRPr lang="en-US" sz="1800" dirty="0"/>
          </a:p>
        </p:txBody>
      </p:sp>
      <p:pic>
        <p:nvPicPr>
          <p:cNvPr id="4" name="Picture 3">
            <a:extLst>
              <a:ext uri="{FF2B5EF4-FFF2-40B4-BE49-F238E27FC236}">
                <a16:creationId xmlns:a16="http://schemas.microsoft.com/office/drawing/2014/main" id="{461222C1-30F4-4D92-94DF-C9E121651446}"/>
              </a:ext>
            </a:extLst>
          </p:cNvPr>
          <p:cNvPicPr>
            <a:picLocks noChangeAspect="1"/>
          </p:cNvPicPr>
          <p:nvPr/>
        </p:nvPicPr>
        <p:blipFill>
          <a:blip r:embed="rId2"/>
          <a:stretch>
            <a:fillRect/>
          </a:stretch>
        </p:blipFill>
        <p:spPr>
          <a:xfrm>
            <a:off x="24603" y="6662928"/>
            <a:ext cx="752580" cy="1714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3" name="Content Placeholder 2"/>
          <p:cNvSpPr>
            <a:spLocks noGrp="1"/>
          </p:cNvSpPr>
          <p:nvPr>
            <p:ph idx="1"/>
          </p:nvPr>
        </p:nvSpPr>
        <p:spPr/>
        <p:txBody>
          <a:bodyPr>
            <a:normAutofit fontScale="92500" lnSpcReduction="20000"/>
          </a:bodyPr>
          <a:lstStyle/>
          <a:p>
            <a:pPr marL="50800" indent="0">
              <a:buNone/>
            </a:pPr>
            <a:endParaRPr lang="en-US" b="1" dirty="0"/>
          </a:p>
          <a:p>
            <a:r>
              <a:rPr lang="en-US" dirty="0"/>
              <a:t>Seasonal Detection is crucial for agriculture, plant research, environmental monitoring, and biotechnology.</a:t>
            </a:r>
          </a:p>
          <a:p>
            <a:r>
              <a:rPr lang="en-US" dirty="0"/>
              <a:t>Traditional methods rely on manual plant observation or separate weather reports.</a:t>
            </a:r>
          </a:p>
          <a:p>
            <a:r>
              <a:rPr lang="en-US" dirty="0"/>
              <a:t>Manual approaches are prone to human error, subjectivity, and inconsistent results.</a:t>
            </a:r>
          </a:p>
          <a:p>
            <a:r>
              <a:rPr lang="en-US" dirty="0"/>
              <a:t>Image-based models capture visual features but ignore real-time environmental factors.</a:t>
            </a:r>
          </a:p>
          <a:p>
            <a:r>
              <a:rPr lang="en-US" dirty="0"/>
              <a:t>Weather-based models focus on climatic data but overlook important visual changes in plants.</a:t>
            </a:r>
          </a:p>
          <a:p>
            <a:r>
              <a:rPr lang="en-US" dirty="0"/>
              <a:t>Lack of integration between plant imagery and environmental data leads to incomplete seasonal detection.</a:t>
            </a:r>
          </a:p>
          <a:p>
            <a:r>
              <a:rPr lang="en-US" dirty="0"/>
              <a:t>Accurate seasonal detection is essential for crop planning, ecological analysis, and scientific research.</a:t>
            </a:r>
          </a:p>
          <a:p>
            <a:r>
              <a:rPr lang="en-US" b="1" dirty="0" err="1"/>
              <a:t>Ecovision</a:t>
            </a:r>
            <a:r>
              <a:rPr lang="en-US" dirty="0"/>
              <a:t> uses deep learning to combine plant images and environmental parameters for reliable, automated seasonal detection.</a:t>
            </a:r>
          </a:p>
          <a:p>
            <a:pPr marL="0" lvl="0" indent="0" algn="l" eaLnBrk="0" fontAlgn="base" hangingPunct="0">
              <a:lnSpc>
                <a:spcPct val="100000"/>
              </a:lnSpc>
              <a:spcBef>
                <a:spcPct val="0"/>
              </a:spcBef>
              <a:spcAft>
                <a:spcPct val="0"/>
              </a:spcAft>
              <a:buFontTx/>
              <a:buChar char="•"/>
            </a:pPr>
            <a:endParaRPr lang="en-US" altLang="en-US" dirty="0"/>
          </a:p>
          <a:p>
            <a:pPr marL="0" indent="0">
              <a:buNone/>
            </a:pPr>
            <a:endParaRPr lang="en-US" dirty="0"/>
          </a:p>
        </p:txBody>
      </p:sp>
      <p:pic>
        <p:nvPicPr>
          <p:cNvPr id="4" name="Picture 3">
            <a:extLst>
              <a:ext uri="{FF2B5EF4-FFF2-40B4-BE49-F238E27FC236}">
                <a16:creationId xmlns:a16="http://schemas.microsoft.com/office/drawing/2014/main" id="{75E4AF23-2160-44E9-AE53-5C06A19E6A4D}"/>
              </a:ext>
            </a:extLst>
          </p:cNvPr>
          <p:cNvPicPr>
            <a:picLocks noChangeAspect="1"/>
          </p:cNvPicPr>
          <p:nvPr/>
        </p:nvPicPr>
        <p:blipFill>
          <a:blip r:embed="rId2"/>
          <a:stretch>
            <a:fillRect/>
          </a:stretch>
        </p:blipFill>
        <p:spPr>
          <a:xfrm>
            <a:off x="44478" y="6652993"/>
            <a:ext cx="752580" cy="1714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sp>
        <p:nvSpPr>
          <p:cNvPr id="3" name="Content Placeholder 2"/>
          <p:cNvSpPr>
            <a:spLocks noGrp="1"/>
          </p:cNvSpPr>
          <p:nvPr>
            <p:ph idx="1"/>
          </p:nvPr>
        </p:nvSpPr>
        <p:spPr/>
        <p:txBody>
          <a:bodyPr>
            <a:normAutofit/>
          </a:bodyPr>
          <a:lstStyle/>
          <a:p>
            <a:pPr marL="462280" indent="-462280">
              <a:buBlip>
                <a:blip r:embed="rId2">
                  <a:extLst>
                    <a:ext uri="{96DAC541-7B7A-43D3-8B79-37D633B846F1}">
                      <asvg:svgBlip xmlns:asvg="http://schemas.microsoft.com/office/drawing/2016/SVG/main" r:embed="rId3"/>
                    </a:ext>
                  </a:extLst>
                </a:blip>
              </a:buBlip>
            </a:pPr>
            <a:r>
              <a:rPr lang="en-US" sz="2000" dirty="0"/>
              <a:t>Singh et al. (2021): CNN-based season classification using plant leaf images. Proved visual features (color, texture, dryness) accurately reflect seasonal changes. [IEEE Xplore]</a:t>
            </a:r>
          </a:p>
          <a:p>
            <a:pPr marL="462280" indent="-462280">
              <a:buBlip>
                <a:blip r:embed="rId2">
                  <a:extLst>
                    <a:ext uri="{96DAC541-7B7A-43D3-8B79-37D633B846F1}">
                      <asvg:svgBlip xmlns:asvg="http://schemas.microsoft.com/office/drawing/2016/SVG/main" r:embed="rId3"/>
                    </a:ext>
                  </a:extLst>
                </a:blip>
              </a:buBlip>
            </a:pPr>
            <a:r>
              <a:rPr lang="en-US" sz="2000" dirty="0"/>
              <a:t>Zhou et al. (2021): ML model using environmental parameters (temperature, humidity, rainfall) for seasonal detection. Combined visual + environmental data improves accuracy. [MDPI]</a:t>
            </a:r>
          </a:p>
          <a:p>
            <a:pPr marL="462280" indent="-462280">
              <a:buBlip>
                <a:blip r:embed="rId2">
                  <a:extLst>
                    <a:ext uri="{96DAC541-7B7A-43D3-8B79-37D633B846F1}">
                      <asvg:svgBlip xmlns:asvg="http://schemas.microsoft.com/office/drawing/2016/SVG/main" r:embed="rId3"/>
                    </a:ext>
                  </a:extLst>
                </a:blip>
              </a:buBlip>
            </a:pPr>
            <a:r>
              <a:rPr lang="en-US" sz="2000" dirty="0"/>
              <a:t>Das &amp; Sen (2020): Computer vision for plant phenology study. Demonstrated plant biological cycles directly correlate with seasonal transitions. [ScienceDirect]</a:t>
            </a:r>
          </a:p>
          <a:p>
            <a:pPr marL="462280" indent="-462280">
              <a:buBlip>
                <a:blip r:embed="rId2">
                  <a:extLst>
                    <a:ext uri="{96DAC541-7B7A-43D3-8B79-37D633B846F1}">
                      <asvg:svgBlip xmlns:asvg="http://schemas.microsoft.com/office/drawing/2016/SVG/main" r:embed="rId3"/>
                    </a:ext>
                  </a:extLst>
                </a:blip>
              </a:buBlip>
            </a:pPr>
            <a:r>
              <a:rPr lang="en-US" sz="2000" dirty="0"/>
              <a:t>Rai &amp; Kaur (2022): CNN + LSTM deep learning for seasonal/weather prediction. Deep learning significantly outperforms traditional ML. [SpringerLink]</a:t>
            </a:r>
          </a:p>
          <a:p>
            <a:pPr marL="462280" indent="-462280">
              <a:buBlip>
                <a:blip r:embed="rId2">
                  <a:extLst>
                    <a:ext uri="{96DAC541-7B7A-43D3-8B79-37D633B846F1}">
                      <asvg:svgBlip xmlns:asvg="http://schemas.microsoft.com/office/drawing/2016/SVG/main" r:embed="rId3"/>
                    </a:ext>
                  </a:extLst>
                </a:blip>
              </a:buBlip>
            </a:pPr>
            <a:r>
              <a:rPr lang="en-US" sz="2000" dirty="0"/>
              <a:t>Ji et al. (2025): HydroSpot-YOLO for invasive species detection — higher mAP vs. baseline YOLO for ecological monitoring. [Ecological Indicators]</a:t>
            </a:r>
          </a:p>
          <a:p>
            <a:pPr marL="462280" indent="-462280">
              <a:buBlip>
                <a:blip r:embed="rId2">
                  <a:extLst>
                    <a:ext uri="{96DAC541-7B7A-43D3-8B79-37D633B846F1}">
                      <asvg:svgBlip xmlns:asvg="http://schemas.microsoft.com/office/drawing/2016/SVG/main" r:embed="rId3"/>
                    </a:ext>
                  </a:extLst>
                </a:blip>
              </a:buBlip>
            </a:pPr>
            <a:r>
              <a:rPr lang="en-US" sz="2000" dirty="0"/>
              <a:t>Oumaima et al. (2025): EnviScan+ CNN-based plant identification platform — ~90.18% accuracy with AR and chatbot support. [SoftwareX]</a:t>
            </a:r>
          </a:p>
        </p:txBody>
      </p:sp>
      <p:pic>
        <p:nvPicPr>
          <p:cNvPr id="4" name="Picture 3">
            <a:extLst>
              <a:ext uri="{FF2B5EF4-FFF2-40B4-BE49-F238E27FC236}">
                <a16:creationId xmlns:a16="http://schemas.microsoft.com/office/drawing/2014/main" id="{82EA26E7-8180-42CE-AA64-373F50C06A5D}"/>
              </a:ext>
            </a:extLst>
          </p:cNvPr>
          <p:cNvPicPr>
            <a:picLocks noChangeAspect="1"/>
          </p:cNvPicPr>
          <p:nvPr/>
        </p:nvPicPr>
        <p:blipFill>
          <a:blip r:embed="rId4"/>
          <a:stretch>
            <a:fillRect/>
          </a:stretch>
        </p:blipFill>
        <p:spPr>
          <a:xfrm>
            <a:off x="-5214" y="6652985"/>
            <a:ext cx="752580" cy="1714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System</a:t>
            </a:r>
            <a:endParaRPr lang="en-IN" dirty="0"/>
          </a:p>
        </p:txBody>
      </p:sp>
      <p:sp>
        <p:nvSpPr>
          <p:cNvPr id="3" name="Content Placeholder 2"/>
          <p:cNvSpPr>
            <a:spLocks noGrp="1"/>
          </p:cNvSpPr>
          <p:nvPr>
            <p:ph idx="1"/>
          </p:nvPr>
        </p:nvSpPr>
        <p:spPr/>
        <p:txBody>
          <a:bodyPr>
            <a:normAutofit/>
          </a:bodyPr>
          <a:lstStyle/>
          <a:p>
            <a:r>
              <a:rPr lang="en-US" dirty="0"/>
              <a:t>Current seasonal detection systems mainly use </a:t>
            </a:r>
            <a:r>
              <a:rPr lang="en-US" b="1" dirty="0"/>
              <a:t>image-based analysis or weather data separately</a:t>
            </a:r>
            <a:r>
              <a:rPr lang="en-US" dirty="0"/>
              <a:t>.</a:t>
            </a:r>
          </a:p>
          <a:p>
            <a:r>
              <a:rPr lang="en-US" dirty="0"/>
              <a:t>Traditional </a:t>
            </a:r>
            <a:r>
              <a:rPr lang="en-US" b="1" dirty="0"/>
              <a:t>Machine Learning and Convolutional Neural Network (CNN)</a:t>
            </a:r>
            <a:r>
              <a:rPr lang="en-US" dirty="0"/>
              <a:t> models are used to classify seasonal patterns from images.</a:t>
            </a:r>
          </a:p>
          <a:p>
            <a:r>
              <a:rPr lang="en-US" dirty="0"/>
              <a:t>Some systems rely on </a:t>
            </a:r>
            <a:r>
              <a:rPr lang="en-US" b="1" dirty="0"/>
              <a:t>environmental parameters like temperature, humidity, and rainfall</a:t>
            </a:r>
            <a:r>
              <a:rPr lang="en-US" dirty="0"/>
              <a:t>.</a:t>
            </a:r>
          </a:p>
          <a:p>
            <a:r>
              <a:rPr lang="en-US" dirty="0"/>
              <a:t>These systems usually analyze </a:t>
            </a:r>
            <a:r>
              <a:rPr lang="en-US" b="1" dirty="0"/>
              <a:t>only one type of data</a:t>
            </a:r>
            <a:r>
              <a:rPr lang="en-US" dirty="0"/>
              <a:t>, which may reduce the prediction accuracy.</a:t>
            </a:r>
          </a:p>
          <a:p>
            <a:r>
              <a:rPr lang="en-US" dirty="0"/>
              <a:t>They may also </a:t>
            </a:r>
            <a:r>
              <a:rPr lang="en-US" b="1" dirty="0"/>
              <a:t>struggle to work effectively in different geographical locations and changing environmental conditions</a:t>
            </a:r>
            <a:r>
              <a:rPr lang="en-US" dirty="0"/>
              <a:t>.</a:t>
            </a:r>
          </a:p>
          <a:p>
            <a:pPr marL="0" indent="0">
              <a:buNone/>
            </a:pPr>
            <a:endParaRPr lang="en-US" dirty="0"/>
          </a:p>
        </p:txBody>
      </p:sp>
      <p:pic>
        <p:nvPicPr>
          <p:cNvPr id="4" name="Picture 3">
            <a:extLst>
              <a:ext uri="{FF2B5EF4-FFF2-40B4-BE49-F238E27FC236}">
                <a16:creationId xmlns:a16="http://schemas.microsoft.com/office/drawing/2014/main" id="{E4F6A2DF-1222-4A32-83A0-0C8FCB71150C}"/>
              </a:ext>
            </a:extLst>
          </p:cNvPr>
          <p:cNvPicPr>
            <a:picLocks noChangeAspect="1"/>
          </p:cNvPicPr>
          <p:nvPr/>
        </p:nvPicPr>
        <p:blipFill>
          <a:blip r:embed="rId2"/>
          <a:stretch>
            <a:fillRect/>
          </a:stretch>
        </p:blipFill>
        <p:spPr>
          <a:xfrm>
            <a:off x="34540" y="6652985"/>
            <a:ext cx="752580" cy="1714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Gap</a:t>
            </a:r>
            <a:endParaRPr lang="en-IN" dirty="0"/>
          </a:p>
        </p:txBody>
      </p:sp>
      <p:sp>
        <p:nvSpPr>
          <p:cNvPr id="3" name="Content Placeholder 2"/>
          <p:cNvSpPr>
            <a:spLocks noGrp="1"/>
          </p:cNvSpPr>
          <p:nvPr>
            <p:ph idx="1"/>
          </p:nvPr>
        </p:nvSpPr>
        <p:spPr/>
        <p:txBody>
          <a:bodyPr>
            <a:normAutofit/>
          </a:bodyPr>
          <a:lstStyle/>
          <a:p>
            <a:r>
              <a:rPr lang="en-US" dirty="0"/>
              <a:t>Existing systems </a:t>
            </a:r>
            <a:r>
              <a:rPr lang="en-US" b="1" dirty="0"/>
              <a:t>cannot effectively combine visual seasonal patterns and environmental parameters together</a:t>
            </a:r>
            <a:r>
              <a:rPr lang="en-US" dirty="0"/>
              <a:t>.</a:t>
            </a:r>
          </a:p>
          <a:p>
            <a:r>
              <a:rPr lang="en-US" dirty="0"/>
              <a:t>Models that use </a:t>
            </a:r>
            <a:r>
              <a:rPr lang="en-US" b="1" dirty="0"/>
              <a:t>single data sources may not provide accurate seasonal prediction</a:t>
            </a:r>
            <a:r>
              <a:rPr lang="en-US" dirty="0"/>
              <a:t>.</a:t>
            </a:r>
          </a:p>
          <a:p>
            <a:r>
              <a:rPr lang="en-US" dirty="0"/>
              <a:t>Seasonal variations across </a:t>
            </a:r>
            <a:r>
              <a:rPr lang="en-US" b="1" dirty="0"/>
              <a:t>different geographical regions are not handled properly</a:t>
            </a:r>
            <a:r>
              <a:rPr lang="en-US" dirty="0"/>
              <a:t> in many systems.</a:t>
            </a:r>
          </a:p>
          <a:p>
            <a:r>
              <a:rPr lang="en-US" dirty="0"/>
              <a:t>There is a need for a </a:t>
            </a:r>
            <a:r>
              <a:rPr lang="en-US" b="1" dirty="0"/>
              <a:t>Hybrid Fusion Model that integrates image features and environmental data</a:t>
            </a:r>
            <a:r>
              <a:rPr lang="en-US" dirty="0"/>
              <a:t> to improve seasonal detection accuracy</a:t>
            </a:r>
          </a:p>
          <a:p>
            <a:pPr marL="0" indent="0">
              <a:buNone/>
            </a:pPr>
            <a:endParaRPr lang="en-US" dirty="0"/>
          </a:p>
        </p:txBody>
      </p:sp>
      <p:pic>
        <p:nvPicPr>
          <p:cNvPr id="4" name="Picture 3">
            <a:extLst>
              <a:ext uri="{FF2B5EF4-FFF2-40B4-BE49-F238E27FC236}">
                <a16:creationId xmlns:a16="http://schemas.microsoft.com/office/drawing/2014/main" id="{641A8BF9-5B1D-4DCD-BDD2-F974A4F147AE}"/>
              </a:ext>
            </a:extLst>
          </p:cNvPr>
          <p:cNvPicPr>
            <a:picLocks noChangeAspect="1"/>
          </p:cNvPicPr>
          <p:nvPr/>
        </p:nvPicPr>
        <p:blipFill>
          <a:blip r:embed="rId2"/>
          <a:stretch>
            <a:fillRect/>
          </a:stretch>
        </p:blipFill>
        <p:spPr>
          <a:xfrm>
            <a:off x="14664" y="6662925"/>
            <a:ext cx="752580" cy="1714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System</a:t>
            </a:r>
            <a:endParaRPr lang="en-IN" dirty="0"/>
          </a:p>
        </p:txBody>
      </p:sp>
      <p:sp>
        <p:nvSpPr>
          <p:cNvPr id="3" name="Content Placeholder 2"/>
          <p:cNvSpPr>
            <a:spLocks noGrp="1"/>
          </p:cNvSpPr>
          <p:nvPr>
            <p:ph idx="1"/>
          </p:nvPr>
        </p:nvSpPr>
        <p:spPr/>
        <p:txBody>
          <a:bodyPr>
            <a:normAutofit/>
          </a:bodyPr>
          <a:lstStyle/>
          <a:p>
            <a:pPr marL="0" indent="0">
              <a:buNone/>
            </a:pPr>
            <a:endParaRPr lang="en-US" altLang="en-US" sz="2400" dirty="0"/>
          </a:p>
          <a:p>
            <a:pPr marL="285750" indent="-285750">
              <a:buFont typeface="Arial" panose="020B0604020202020204" pitchFamily="34" charset="0"/>
              <a:buChar char="•"/>
            </a:pPr>
            <a:r>
              <a:rPr lang="en-US" altLang="en-US" sz="2400" dirty="0"/>
              <a:t>The proposed system, </a:t>
            </a:r>
            <a:r>
              <a:rPr lang="en-US" altLang="en-US" sz="2400" b="1" dirty="0" err="1"/>
              <a:t>Ecovision</a:t>
            </a:r>
            <a:r>
              <a:rPr lang="en-US" altLang="en-US" sz="2400" dirty="0"/>
              <a:t>, uses a </a:t>
            </a:r>
            <a:r>
              <a:rPr lang="en-US" altLang="en-US" sz="2400" b="1" dirty="0"/>
              <a:t>deep learning model</a:t>
            </a:r>
            <a:r>
              <a:rPr lang="en-US" altLang="en-US" sz="2400" dirty="0"/>
              <a:t> that analyzes both the plant/tree image and environmental parameters to accurately predict the current season.</a:t>
            </a:r>
          </a:p>
          <a:p>
            <a:pPr marL="285750" indent="-285750">
              <a:buFont typeface="Arial" panose="020B0604020202020204" pitchFamily="34" charset="0"/>
              <a:buChar char="•"/>
            </a:pPr>
            <a:r>
              <a:rPr lang="en-US" altLang="en-US" sz="2400" dirty="0"/>
              <a:t>A </a:t>
            </a:r>
            <a:r>
              <a:rPr lang="en-US" altLang="en-US" sz="2400" b="1" dirty="0"/>
              <a:t>CNN model</a:t>
            </a:r>
            <a:r>
              <a:rPr lang="en-US" altLang="en-US" sz="2400" dirty="0"/>
              <a:t> extracts visual features such as leaf color, texture, dryness, and flowering patterns from the uploaded image.</a:t>
            </a:r>
          </a:p>
          <a:p>
            <a:pPr marL="285750" indent="-285750">
              <a:buFont typeface="Arial" panose="020B0604020202020204" pitchFamily="34" charset="0"/>
              <a:buChar char="•"/>
            </a:pPr>
            <a:r>
              <a:rPr lang="en-US" altLang="en-US" sz="2400" dirty="0"/>
              <a:t>A separate module processes </a:t>
            </a:r>
            <a:r>
              <a:rPr lang="en-US" altLang="en-US" sz="2400" b="1" dirty="0"/>
              <a:t>environmental inputs</a:t>
            </a:r>
            <a:r>
              <a:rPr lang="en-US" altLang="en-US" sz="2400" dirty="0"/>
              <a:t> like temperature, humidity, precipitation, wind speed, pressure, soil moisture, and cloud visibility.</a:t>
            </a:r>
          </a:p>
          <a:p>
            <a:pPr marL="285750" indent="-285750">
              <a:buFont typeface="Arial" panose="020B0604020202020204" pitchFamily="34" charset="0"/>
              <a:buChar char="•"/>
            </a:pPr>
            <a:r>
              <a:rPr lang="en-US" altLang="en-US" sz="2400" dirty="0"/>
              <a:t>Both image features and climatic data are </a:t>
            </a:r>
            <a:r>
              <a:rPr lang="en-US" altLang="en-US" sz="2400" b="1" dirty="0"/>
              <a:t>combined (fused)</a:t>
            </a:r>
            <a:r>
              <a:rPr lang="en-US" altLang="en-US" sz="2400" dirty="0"/>
              <a:t> to improve the accuracy and reliability of seasonal prediction.</a:t>
            </a:r>
          </a:p>
          <a:p>
            <a:pPr marL="285750" indent="-285750">
              <a:buFont typeface="Arial" panose="020B0604020202020204" pitchFamily="34" charset="0"/>
              <a:buChar char="•"/>
            </a:pPr>
            <a:r>
              <a:rPr lang="en-US" altLang="en-US" sz="2400" dirty="0"/>
              <a:t>The system includes a </a:t>
            </a:r>
            <a:r>
              <a:rPr lang="en-US" altLang="en-US" sz="2400" b="1" dirty="0"/>
              <a:t>simple and user-friendly interface</a:t>
            </a:r>
            <a:r>
              <a:rPr lang="en-US" altLang="en-US" sz="2400" dirty="0"/>
              <a:t> where users can upload an image and enter environmental values.</a:t>
            </a:r>
          </a:p>
          <a:p>
            <a:pPr marL="285750" indent="-285750">
              <a:buFont typeface="Arial" panose="020B0604020202020204" pitchFamily="34" charset="0"/>
              <a:buChar char="•"/>
            </a:pPr>
            <a:r>
              <a:rPr lang="en-US" altLang="en-US" sz="2400" dirty="0"/>
              <a:t>The backend processes the data and provides the </a:t>
            </a:r>
            <a:r>
              <a:rPr lang="en-US" altLang="en-US" sz="2400" b="1" dirty="0"/>
              <a:t>predicted season with a confidence score</a:t>
            </a:r>
            <a:r>
              <a:rPr lang="en-US" altLang="en-US" sz="2400" dirty="0"/>
              <a:t>, helping users make better agricultural and ecological decisions.</a:t>
            </a:r>
            <a:endParaRPr lang="en-US" altLang="en-US" sz="2400" dirty="0">
              <a:ea typeface="Times New Roman" panose="02020603050405020304" pitchFamily="18" charset="0"/>
            </a:endParaRPr>
          </a:p>
          <a:p>
            <a:pPr marL="0" indent="0">
              <a:buNone/>
            </a:pPr>
            <a:endParaRPr lang="en-US" sz="2400" dirty="0"/>
          </a:p>
        </p:txBody>
      </p:sp>
      <p:pic>
        <p:nvPicPr>
          <p:cNvPr id="4" name="Picture 3">
            <a:extLst>
              <a:ext uri="{FF2B5EF4-FFF2-40B4-BE49-F238E27FC236}">
                <a16:creationId xmlns:a16="http://schemas.microsoft.com/office/drawing/2014/main" id="{B7C489FC-579B-4018-87E6-924641FC6CF3}"/>
              </a:ext>
            </a:extLst>
          </p:cNvPr>
          <p:cNvPicPr>
            <a:picLocks noChangeAspect="1"/>
          </p:cNvPicPr>
          <p:nvPr/>
        </p:nvPicPr>
        <p:blipFill>
          <a:blip r:embed="rId2"/>
          <a:stretch>
            <a:fillRect/>
          </a:stretch>
        </p:blipFill>
        <p:spPr>
          <a:xfrm>
            <a:off x="-35034" y="6662925"/>
            <a:ext cx="752580" cy="1714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Extension &amp; Novelty</a:t>
            </a:r>
            <a:endParaRPr lang="en-IN" dirty="0"/>
          </a:p>
        </p:txBody>
      </p:sp>
      <p:sp>
        <p:nvSpPr>
          <p:cNvPr id="3" name="Content Placeholder 2"/>
          <p:cNvSpPr>
            <a:spLocks noGrp="1"/>
          </p:cNvSpPr>
          <p:nvPr>
            <p:ph idx="1"/>
          </p:nvPr>
        </p:nvSpPr>
        <p:spPr/>
        <p:txBody>
          <a:bodyPr>
            <a:normAutofit/>
          </a:bodyPr>
          <a:lstStyle/>
          <a:p>
            <a:pPr marL="0" indent="0">
              <a:buNone/>
            </a:pPr>
            <a:r>
              <a:rPr lang="en-US" sz="2400" dirty="0"/>
              <a:t>Extended the system with a Fusion Hybrid Model integrated into a Flask web interface for real-time seasonal prediction.</a:t>
            </a:r>
          </a:p>
          <a:p>
            <a:pPr marL="462280" indent="-462280">
              <a:buBlip>
                <a:blip r:embed="rId2">
                  <a:extLst>
                    <a:ext uri="{96DAC541-7B7A-43D3-8B79-37D633B846F1}">
                      <asvg:svgBlip xmlns:asvg="http://schemas.microsoft.com/office/drawing/2016/SVG/main" r:embed="rId3"/>
                    </a:ext>
                  </a:extLst>
                </a:blip>
              </a:buBlip>
            </a:pPr>
            <a:r>
              <a:rPr lang="en-US" sz="2400" dirty="0"/>
              <a:t>Combines multiple deep learning architectures — CNN, VGG16, ResNet50, Xception, NASNetLarge — for superior feature extraction and classification accuracy.</a:t>
            </a:r>
          </a:p>
          <a:p>
            <a:pPr marL="462280" indent="-462280">
              <a:buBlip>
                <a:blip r:embed="rId2">
                  <a:extLst>
                    <a:ext uri="{96DAC541-7B7A-43D3-8B79-37D633B846F1}">
                      <asvg:svgBlip xmlns:asvg="http://schemas.microsoft.com/office/drawing/2016/SVG/main" r:embed="rId3"/>
                    </a:ext>
                  </a:extLst>
                </a:blip>
              </a:buBlip>
            </a:pPr>
            <a:r>
              <a:rPr lang="en-US" sz="2400" dirty="0"/>
              <a:t>Flask interface enables user-friendly input submission, secure SQLite authentication.</a:t>
            </a:r>
          </a:p>
          <a:p>
            <a:pPr marL="462280" indent="-462280">
              <a:buBlip>
                <a:blip r:embed="rId2">
                  <a:extLst>
                    <a:ext uri="{96DAC541-7B7A-43D3-8B79-37D633B846F1}">
                      <asvg:svgBlip xmlns:asvg="http://schemas.microsoft.com/office/drawing/2016/SVG/main" r:embed="rId3"/>
                    </a:ext>
                  </a:extLst>
                </a:blip>
              </a:buBlip>
            </a:pPr>
            <a:r>
              <a:rPr lang="en-US" sz="2400" dirty="0"/>
              <a:t>Enhances prediction accuracy by leveraging complementary features from multiple architectures simultaneously.</a:t>
            </a:r>
          </a:p>
          <a:p>
            <a:pPr marL="462280" indent="-462280">
              <a:buBlip>
                <a:blip r:embed="rId2">
                  <a:extLst>
                    <a:ext uri="{96DAC541-7B7A-43D3-8B79-37D633B846F1}">
                      <asvg:svgBlip xmlns:asvg="http://schemas.microsoft.com/office/drawing/2016/SVG/main" r:embed="rId3"/>
                    </a:ext>
                  </a:extLst>
                </a:blip>
              </a:buBlip>
            </a:pPr>
            <a:r>
              <a:rPr lang="en-US" sz="2400" dirty="0"/>
              <a:t>Supports integration of plant images and environmental features for comprehensive, context-aware, real-time classification.</a:t>
            </a:r>
          </a:p>
          <a:p>
            <a:pPr marL="462280" indent="-462280">
              <a:buBlip>
                <a:blip r:embed="rId2">
                  <a:extLst>
                    <a:ext uri="{96DAC541-7B7A-43D3-8B79-37D633B846F1}">
                      <asvg:svgBlip xmlns:asvg="http://schemas.microsoft.com/office/drawing/2016/SVG/main" r:embed="rId3"/>
                    </a:ext>
                  </a:extLst>
                </a:blip>
              </a:buBlip>
            </a:pPr>
            <a:r>
              <a:rPr lang="en-US" sz="2400" dirty="0"/>
              <a:t>Enables scalable deployment — users can access seasonal predictions securely across any device, anywhere.</a:t>
            </a:r>
          </a:p>
        </p:txBody>
      </p:sp>
      <p:pic>
        <p:nvPicPr>
          <p:cNvPr id="4" name="Picture 3">
            <a:extLst>
              <a:ext uri="{FF2B5EF4-FFF2-40B4-BE49-F238E27FC236}">
                <a16:creationId xmlns:a16="http://schemas.microsoft.com/office/drawing/2014/main" id="{F261EE95-BA5B-48DF-87B0-2746FDD750ED}"/>
              </a:ext>
            </a:extLst>
          </p:cNvPr>
          <p:cNvPicPr>
            <a:picLocks noChangeAspect="1"/>
          </p:cNvPicPr>
          <p:nvPr/>
        </p:nvPicPr>
        <p:blipFill>
          <a:blip r:embed="rId4"/>
          <a:stretch>
            <a:fillRect/>
          </a:stretch>
        </p:blipFill>
        <p:spPr>
          <a:xfrm>
            <a:off x="14666" y="6662926"/>
            <a:ext cx="752580" cy="1714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Planning-Objectives of Project</a:t>
            </a:r>
            <a:endParaRPr lang="en-IN" dirty="0"/>
          </a:p>
        </p:txBody>
      </p:sp>
      <p:sp>
        <p:nvSpPr>
          <p:cNvPr id="3" name="Content Placeholder 2"/>
          <p:cNvSpPr>
            <a:spLocks noGrp="1"/>
          </p:cNvSpPr>
          <p:nvPr>
            <p:ph idx="1"/>
          </p:nvPr>
        </p:nvSpPr>
        <p:spPr/>
        <p:txBody>
          <a:bodyPr>
            <a:normAutofit/>
          </a:bodyPr>
          <a:lstStyle/>
          <a:p>
            <a:r>
              <a:rPr lang="en-US" dirty="0"/>
              <a:t>Develop an </a:t>
            </a:r>
            <a:r>
              <a:rPr lang="en-US" b="1" dirty="0"/>
              <a:t>AI-based system to detect seasons from plant images</a:t>
            </a:r>
            <a:r>
              <a:rPr lang="en-US" dirty="0"/>
              <a:t>.</a:t>
            </a:r>
          </a:p>
          <a:p>
            <a:r>
              <a:rPr lang="en-US" dirty="0"/>
              <a:t>Integrate </a:t>
            </a:r>
            <a:r>
              <a:rPr lang="en-US" b="1" dirty="0"/>
              <a:t>plant visual features with environmental parameters</a:t>
            </a:r>
            <a:r>
              <a:rPr lang="en-US" dirty="0"/>
              <a:t> (temperature, humidity, etc.).</a:t>
            </a:r>
          </a:p>
          <a:p>
            <a:r>
              <a:rPr lang="en-US" dirty="0"/>
              <a:t>Improve prediction accuracy using </a:t>
            </a:r>
            <a:r>
              <a:rPr lang="en-US" b="1" dirty="0"/>
              <a:t>multiple deep learning models</a:t>
            </a:r>
            <a:r>
              <a:rPr lang="en-US" dirty="0"/>
              <a:t>.</a:t>
            </a:r>
          </a:p>
          <a:p>
            <a:r>
              <a:rPr lang="en-US" dirty="0"/>
              <a:t>Build a </a:t>
            </a:r>
            <a:r>
              <a:rPr lang="en-US" b="1" dirty="0"/>
              <a:t>Fusion Hybrid Model</a:t>
            </a:r>
            <a:r>
              <a:rPr lang="en-US" dirty="0"/>
              <a:t> that combines CNN, VGG16, ResNet50, </a:t>
            </a:r>
            <a:r>
              <a:rPr lang="en-US" dirty="0" err="1"/>
              <a:t>Xception</a:t>
            </a:r>
            <a:r>
              <a:rPr lang="en-US" dirty="0"/>
              <a:t>, and </a:t>
            </a:r>
            <a:r>
              <a:rPr lang="en-US" dirty="0" err="1"/>
              <a:t>NASNetLarge</a:t>
            </a:r>
            <a:r>
              <a:rPr lang="en-US" dirty="0"/>
              <a:t>.</a:t>
            </a:r>
          </a:p>
          <a:p>
            <a:r>
              <a:rPr lang="en-US" dirty="0"/>
              <a:t>Provide </a:t>
            </a:r>
            <a:r>
              <a:rPr lang="en-US" b="1" dirty="0"/>
              <a:t>real-time seasonal prediction through a web application</a:t>
            </a:r>
            <a:r>
              <a:rPr lang="en-US" dirty="0"/>
              <a:t>.</a:t>
            </a:r>
          </a:p>
          <a:p>
            <a:r>
              <a:rPr lang="en-US" dirty="0"/>
              <a:t>Help </a:t>
            </a:r>
            <a:r>
              <a:rPr lang="en-US" b="1" dirty="0"/>
              <a:t>farmers, researchers, and environmental analysts</a:t>
            </a:r>
            <a:r>
              <a:rPr lang="en-US" dirty="0"/>
              <a:t> understand seasonal changes.</a:t>
            </a:r>
          </a:p>
          <a:p>
            <a:pPr marL="0" indent="0">
              <a:buNone/>
            </a:pPr>
            <a:endParaRPr lang="en-US" dirty="0"/>
          </a:p>
        </p:txBody>
      </p:sp>
      <p:pic>
        <p:nvPicPr>
          <p:cNvPr id="4" name="Picture 3">
            <a:extLst>
              <a:ext uri="{FF2B5EF4-FFF2-40B4-BE49-F238E27FC236}">
                <a16:creationId xmlns:a16="http://schemas.microsoft.com/office/drawing/2014/main" id="{0F16E7F0-446D-400D-A8F4-7F9F48DCCB45}"/>
              </a:ext>
            </a:extLst>
          </p:cNvPr>
          <p:cNvPicPr>
            <a:picLocks noChangeAspect="1"/>
          </p:cNvPicPr>
          <p:nvPr/>
        </p:nvPicPr>
        <p:blipFill>
          <a:blip r:embed="rId2"/>
          <a:stretch>
            <a:fillRect/>
          </a:stretch>
        </p:blipFill>
        <p:spPr>
          <a:xfrm>
            <a:off x="4725" y="6662928"/>
            <a:ext cx="752580" cy="1714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Planning-Requirements</a:t>
            </a:r>
            <a:endParaRPr lang="en-IN" dirty="0"/>
          </a:p>
        </p:txBody>
      </p:sp>
      <p:sp>
        <p:nvSpPr>
          <p:cNvPr id="3" name="Content Placeholder 2"/>
          <p:cNvSpPr>
            <a:spLocks noGrp="1"/>
          </p:cNvSpPr>
          <p:nvPr>
            <p:ph idx="1"/>
          </p:nvPr>
        </p:nvSpPr>
        <p:spPr/>
        <p:txBody>
          <a:bodyPr>
            <a:normAutofit/>
          </a:bodyPr>
          <a:lstStyle/>
          <a:p>
            <a:pPr marL="0" indent="0">
              <a:buNone/>
            </a:pPr>
            <a:r>
              <a:rPr lang="en-US" dirty="0"/>
              <a:t>SOFTWARE REQUIREMENTS:</a:t>
            </a:r>
          </a:p>
          <a:p>
            <a:pPr marL="462280" indent="-462280">
              <a:buBlip>
                <a:blip r:embed="rId2">
                  <a:extLst>
                    <a:ext uri="{96DAC541-7B7A-43D3-8B79-37D633B846F1}">
                      <asvg:svgBlip xmlns:asvg="http://schemas.microsoft.com/office/drawing/2016/SVG/main" r:embed="rId3"/>
                    </a:ext>
                  </a:extLst>
                </a:blip>
              </a:buBlip>
            </a:pPr>
            <a:r>
              <a:rPr lang="en-US" dirty="0"/>
              <a:t>Anaconda 2023.03-1  |  Python 3.10.9  |  Flask (Web Framework)</a:t>
            </a:r>
          </a:p>
          <a:p>
            <a:pPr marL="462280" indent="-462280">
              <a:buBlip>
                <a:blip r:embed="rId2">
                  <a:extLst>
                    <a:ext uri="{96DAC541-7B7A-43D3-8B79-37D633B846F1}">
                      <asvg:svgBlip xmlns:asvg="http://schemas.microsoft.com/office/drawing/2016/SVG/main" r:embed="rId3"/>
                    </a:ext>
                  </a:extLst>
                </a:blip>
              </a:buBlip>
            </a:pPr>
            <a:r>
              <a:rPr lang="en-US" dirty="0"/>
              <a:t>Jupyter Notebook (Development)  |  SQLite3 (Database)</a:t>
            </a:r>
          </a:p>
          <a:p>
            <a:pPr marL="462280" indent="-462280">
              <a:buBlip>
                <a:blip r:embed="rId2">
                  <a:extLst>
                    <a:ext uri="{96DAC541-7B7A-43D3-8B79-37D633B846F1}">
                      <asvg:svgBlip xmlns:asvg="http://schemas.microsoft.com/office/drawing/2016/SVG/main" r:embed="rId3"/>
                    </a:ext>
                  </a:extLst>
                </a:blip>
              </a:buBlip>
            </a:pPr>
            <a:r>
              <a:rPr lang="en-US" dirty="0"/>
              <a:t>Front-End: HTML, CSS, JavaScript, Bootstrap 4</a:t>
            </a:r>
          </a:p>
          <a:p>
            <a:pPr marL="462280" indent="-462280">
              <a:buBlip>
                <a:blip r:embed="rId2">
                  <a:extLst>
                    <a:ext uri="{96DAC541-7B7A-43D3-8B79-37D633B846F1}">
                      <asvg:svgBlip xmlns:asvg="http://schemas.microsoft.com/office/drawing/2016/SVG/main" r:embed="rId3"/>
                    </a:ext>
                  </a:extLst>
                </a:blip>
              </a:buBlip>
            </a:pPr>
            <a:r>
              <a:rPr lang="en-US" dirty="0"/>
              <a:t>Operating System: Windows 10 and above</a:t>
            </a:r>
          </a:p>
          <a:p>
            <a:pPr marL="0" indent="0">
              <a:buNone/>
            </a:pPr>
            <a:r>
              <a:rPr lang="en-US" dirty="0"/>
              <a:t>HARDWARE REQUIREMENTS:</a:t>
            </a:r>
          </a:p>
          <a:p>
            <a:pPr marL="462280" indent="-462280">
              <a:buBlip>
                <a:blip r:embed="rId2">
                  <a:extLst>
                    <a:ext uri="{96DAC541-7B7A-43D3-8B79-37D633B846F1}">
                      <asvg:svgBlip xmlns:asvg="http://schemas.microsoft.com/office/drawing/2016/SVG/main" r:embed="rId3"/>
                    </a:ext>
                  </a:extLst>
                </a:blip>
              </a:buBlip>
            </a:pPr>
            <a:r>
              <a:rPr lang="en-US" dirty="0"/>
              <a:t>Processor: Intel i5 9th Gen and above</a:t>
            </a:r>
          </a:p>
          <a:p>
            <a:pPr marL="462280" indent="-462280">
              <a:buBlip>
                <a:blip r:embed="rId2">
                  <a:extLst>
                    <a:ext uri="{96DAC541-7B7A-43D3-8B79-37D633B846F1}">
                      <asvg:svgBlip xmlns:asvg="http://schemas.microsoft.com/office/drawing/2016/SVG/main" r:embed="rId3"/>
                    </a:ext>
                  </a:extLst>
                </a:blip>
              </a:buBlip>
            </a:pPr>
            <a:r>
              <a:rPr lang="en-US" dirty="0"/>
              <a:t>RAM: 8 GB minimum (16/32 GB preferred)</a:t>
            </a:r>
          </a:p>
          <a:p>
            <a:pPr marL="462280" indent="-462280">
              <a:buBlip>
                <a:blip r:embed="rId2">
                  <a:extLst>
                    <a:ext uri="{96DAC541-7B7A-43D3-8B79-37D633B846F1}">
                      <asvg:svgBlip xmlns:asvg="http://schemas.microsoft.com/office/drawing/2016/SVG/main" r:embed="rId3"/>
                    </a:ext>
                  </a:extLst>
                </a:blip>
              </a:buBlip>
            </a:pPr>
            <a:r>
              <a:rPr lang="en-US" dirty="0"/>
              <a:t>Hard Disk: 100 GB free space minimum</a:t>
            </a:r>
          </a:p>
        </p:txBody>
      </p:sp>
      <p:pic>
        <p:nvPicPr>
          <p:cNvPr id="4" name="Picture 3">
            <a:extLst>
              <a:ext uri="{FF2B5EF4-FFF2-40B4-BE49-F238E27FC236}">
                <a16:creationId xmlns:a16="http://schemas.microsoft.com/office/drawing/2014/main" id="{7C67ED03-D66A-482E-910B-FF197958343A}"/>
              </a:ext>
            </a:extLst>
          </p:cNvPr>
          <p:cNvPicPr>
            <a:picLocks noChangeAspect="1"/>
          </p:cNvPicPr>
          <p:nvPr/>
        </p:nvPicPr>
        <p:blipFill>
          <a:blip r:embed="rId4"/>
          <a:stretch>
            <a:fillRect/>
          </a:stretch>
        </p:blipFill>
        <p:spPr>
          <a:xfrm>
            <a:off x="24602" y="6662926"/>
            <a:ext cx="752580" cy="1714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F715C-E437-497C-81D7-19D7D9258B92}"/>
              </a:ext>
            </a:extLst>
          </p:cNvPr>
          <p:cNvSpPr>
            <a:spLocks noGrp="1"/>
          </p:cNvSpPr>
          <p:nvPr>
            <p:ph type="title"/>
          </p:nvPr>
        </p:nvSpPr>
        <p:spPr/>
        <p:txBody>
          <a:bodyPr/>
          <a:lstStyle/>
          <a:p>
            <a:r>
              <a:rPr lang="en-US" dirty="0"/>
              <a:t>Planning-System </a:t>
            </a:r>
            <a:r>
              <a:rPr lang="en-US" dirty="0" err="1"/>
              <a:t>Requiremnts</a:t>
            </a:r>
            <a:r>
              <a:rPr lang="en-US" dirty="0"/>
              <a:t> and Workflow</a:t>
            </a:r>
            <a:endParaRPr lang="en-IN" dirty="0"/>
          </a:p>
        </p:txBody>
      </p:sp>
      <p:sp>
        <p:nvSpPr>
          <p:cNvPr id="3" name="Content Placeholder 2">
            <a:extLst>
              <a:ext uri="{FF2B5EF4-FFF2-40B4-BE49-F238E27FC236}">
                <a16:creationId xmlns:a16="http://schemas.microsoft.com/office/drawing/2014/main" id="{E6AB960C-B301-4000-9B65-BA979105F1FE}"/>
              </a:ext>
            </a:extLst>
          </p:cNvPr>
          <p:cNvSpPr>
            <a:spLocks noGrp="1"/>
          </p:cNvSpPr>
          <p:nvPr>
            <p:ph idx="1"/>
          </p:nvPr>
        </p:nvSpPr>
        <p:spPr>
          <a:xfrm>
            <a:off x="199505" y="1083365"/>
            <a:ext cx="11779135" cy="5408874"/>
          </a:xfrm>
        </p:spPr>
        <p:txBody>
          <a:bodyPr>
            <a:normAutofit fontScale="77500" lnSpcReduction="20000"/>
          </a:bodyPr>
          <a:lstStyle/>
          <a:p>
            <a:pPr marL="0" indent="0">
              <a:buNone/>
            </a:pPr>
            <a:r>
              <a:rPr lang="en-IN" b="1" dirty="0"/>
              <a:t>System Requirements</a:t>
            </a:r>
            <a:endParaRPr lang="en-IN" dirty="0"/>
          </a:p>
          <a:p>
            <a:r>
              <a:rPr lang="en-IN" dirty="0"/>
              <a:t>Plant image dataset with seasonal labels</a:t>
            </a:r>
          </a:p>
          <a:p>
            <a:r>
              <a:rPr lang="en-IN" dirty="0"/>
              <a:t>Environmental parameters dataset</a:t>
            </a:r>
          </a:p>
          <a:p>
            <a:r>
              <a:rPr lang="en-IN" dirty="0"/>
              <a:t>Deep learning frameworks (TensorFlow / </a:t>
            </a:r>
            <a:r>
              <a:rPr lang="en-IN" dirty="0" err="1"/>
              <a:t>Keras</a:t>
            </a:r>
            <a:r>
              <a:rPr lang="en-IN" dirty="0"/>
              <a:t> / </a:t>
            </a:r>
            <a:r>
              <a:rPr lang="en-IN" dirty="0" err="1"/>
              <a:t>PyTorch</a:t>
            </a:r>
            <a:r>
              <a:rPr lang="en-IN" dirty="0"/>
              <a:t>)</a:t>
            </a:r>
          </a:p>
          <a:p>
            <a:r>
              <a:rPr lang="en-IN" dirty="0"/>
              <a:t>Python environment with required libraries</a:t>
            </a:r>
          </a:p>
          <a:p>
            <a:r>
              <a:rPr lang="en-IN" dirty="0"/>
              <a:t>Flask framework for web application</a:t>
            </a:r>
          </a:p>
          <a:p>
            <a:r>
              <a:rPr lang="en-IN" dirty="0"/>
              <a:t>SQLite database for user authentication</a:t>
            </a:r>
          </a:p>
          <a:p>
            <a:endParaRPr lang="en-IN" dirty="0"/>
          </a:p>
          <a:p>
            <a:pPr marL="0" indent="0">
              <a:buNone/>
            </a:pPr>
            <a:r>
              <a:rPr lang="en-IN" b="1" dirty="0"/>
              <a:t>Workflow Planning</a:t>
            </a:r>
            <a:endParaRPr lang="en-IN" dirty="0"/>
          </a:p>
          <a:p>
            <a:r>
              <a:rPr lang="en-IN" dirty="0"/>
              <a:t>Data collection (plant images + environmental features)</a:t>
            </a:r>
          </a:p>
          <a:p>
            <a:r>
              <a:rPr lang="en-IN" dirty="0"/>
              <a:t>Data </a:t>
            </a:r>
            <a:r>
              <a:rPr lang="en-IN" dirty="0" err="1"/>
              <a:t>preprocessing</a:t>
            </a:r>
            <a:r>
              <a:rPr lang="en-IN" dirty="0"/>
              <a:t> and dataset preparation</a:t>
            </a:r>
          </a:p>
          <a:p>
            <a:r>
              <a:rPr lang="en-IN" dirty="0"/>
              <a:t>Model training using deep learning architectures</a:t>
            </a:r>
          </a:p>
          <a:p>
            <a:r>
              <a:rPr lang="en-IN" dirty="0"/>
              <a:t>Fusion Hybrid Model development</a:t>
            </a:r>
          </a:p>
          <a:p>
            <a:r>
              <a:rPr lang="en-IN" dirty="0"/>
              <a:t>Integration with Flask web application</a:t>
            </a:r>
          </a:p>
          <a:p>
            <a:r>
              <a:rPr lang="en-IN" dirty="0"/>
              <a:t>Testing and real-time seasonal prediction</a:t>
            </a:r>
          </a:p>
          <a:p>
            <a:endParaRPr lang="en-IN" dirty="0"/>
          </a:p>
        </p:txBody>
      </p:sp>
      <p:pic>
        <p:nvPicPr>
          <p:cNvPr id="4" name="Picture 3">
            <a:extLst>
              <a:ext uri="{FF2B5EF4-FFF2-40B4-BE49-F238E27FC236}">
                <a16:creationId xmlns:a16="http://schemas.microsoft.com/office/drawing/2014/main" id="{8F5DD2E9-7B78-4112-9FA6-9134405730D6}"/>
              </a:ext>
            </a:extLst>
          </p:cNvPr>
          <p:cNvPicPr>
            <a:picLocks noChangeAspect="1"/>
          </p:cNvPicPr>
          <p:nvPr/>
        </p:nvPicPr>
        <p:blipFill>
          <a:blip r:embed="rId2"/>
          <a:stretch>
            <a:fillRect/>
          </a:stretch>
        </p:blipFill>
        <p:spPr>
          <a:xfrm>
            <a:off x="-15150" y="6662925"/>
            <a:ext cx="752580" cy="171474"/>
          </a:xfrm>
          <a:prstGeom prst="rect">
            <a:avLst/>
          </a:prstGeom>
        </p:spPr>
      </p:pic>
    </p:spTree>
    <p:extLst>
      <p:ext uri="{BB962C8B-B14F-4D97-AF65-F5344CB8AC3E}">
        <p14:creationId xmlns:p14="http://schemas.microsoft.com/office/powerpoint/2010/main" val="1352361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5C2B-95C8-4BF9-94E9-C2194FB3FD96}"/>
              </a:ext>
            </a:extLst>
          </p:cNvPr>
          <p:cNvSpPr>
            <a:spLocks noGrp="1"/>
          </p:cNvSpPr>
          <p:nvPr>
            <p:ph type="title"/>
          </p:nvPr>
        </p:nvSpPr>
        <p:spPr>
          <a:xfrm>
            <a:off x="-2" y="249695"/>
            <a:ext cx="12192000" cy="714892"/>
          </a:xfrm>
        </p:spPr>
        <p:txBody>
          <a:bodyPr/>
          <a:lstStyle/>
          <a:p>
            <a:r>
              <a:rPr lang="en-US" dirty="0"/>
              <a:t>Design of the project</a:t>
            </a:r>
            <a:endParaRPr lang="en-IN" dirty="0"/>
          </a:p>
        </p:txBody>
      </p:sp>
      <p:sp>
        <p:nvSpPr>
          <p:cNvPr id="4" name="Rectangle 1">
            <a:extLst>
              <a:ext uri="{FF2B5EF4-FFF2-40B4-BE49-F238E27FC236}">
                <a16:creationId xmlns:a16="http://schemas.microsoft.com/office/drawing/2014/main" id="{F31D461C-448A-4B5A-B7E4-B4EC25FBEC70}"/>
              </a:ext>
            </a:extLst>
          </p:cNvPr>
          <p:cNvSpPr>
            <a:spLocks noGrp="1" noChangeArrowheads="1"/>
          </p:cNvSpPr>
          <p:nvPr>
            <p:ph idx="1"/>
          </p:nvPr>
        </p:nvSpPr>
        <p:spPr bwMode="auto">
          <a:xfrm>
            <a:off x="199505" y="947826"/>
            <a:ext cx="1141676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The design phase defines the overall structure and workflow of the proposed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It shows how different components of the system interact with each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Various UML diagrams are used to represent the system architecture and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System architecture explains how the web application, dataset, and prediction model are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Data Flow Diagram (DFD) illustrates how data moves through the system from input to prediction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UML diagrams such as Use Case, Class, Activity, Sequence, Component, and Deployment diagrams describe system behavior and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This design helps in clearly understanding the system before implementation.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a:ln>
                <a:noFill/>
              </a:ln>
              <a:solidFill>
                <a:schemeClr val="tx1"/>
              </a:solidFill>
              <a:effectLst/>
            </a:endParaRPr>
          </a:p>
        </p:txBody>
      </p:sp>
      <p:pic>
        <p:nvPicPr>
          <p:cNvPr id="3" name="Picture 2">
            <a:extLst>
              <a:ext uri="{FF2B5EF4-FFF2-40B4-BE49-F238E27FC236}">
                <a16:creationId xmlns:a16="http://schemas.microsoft.com/office/drawing/2014/main" id="{602B3B6D-F050-40B6-85DB-35FA0E7ADE52}"/>
              </a:ext>
            </a:extLst>
          </p:cNvPr>
          <p:cNvPicPr>
            <a:picLocks noChangeAspect="1"/>
          </p:cNvPicPr>
          <p:nvPr/>
        </p:nvPicPr>
        <p:blipFill>
          <a:blip r:embed="rId2"/>
          <a:stretch>
            <a:fillRect/>
          </a:stretch>
        </p:blipFill>
        <p:spPr>
          <a:xfrm>
            <a:off x="-5216" y="6662926"/>
            <a:ext cx="752580" cy="171474"/>
          </a:xfrm>
          <a:prstGeom prst="rect">
            <a:avLst/>
          </a:prstGeom>
        </p:spPr>
      </p:pic>
    </p:spTree>
    <p:extLst>
      <p:ext uri="{BB962C8B-B14F-4D97-AF65-F5344CB8AC3E}">
        <p14:creationId xmlns:p14="http://schemas.microsoft.com/office/powerpoint/2010/main" val="644625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Design-System Architecture</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080FCB9D-099F-41DC-A449-AABCE8D75D11}"/>
              </a:ext>
            </a:extLst>
          </p:cNvPr>
          <p:cNvPicPr>
            <a:picLocks noChangeAspect="1"/>
          </p:cNvPicPr>
          <p:nvPr/>
        </p:nvPicPr>
        <p:blipFill>
          <a:blip r:embed="rId3"/>
          <a:stretch>
            <a:fillRect/>
          </a:stretch>
        </p:blipFill>
        <p:spPr>
          <a:xfrm>
            <a:off x="24602" y="6662928"/>
            <a:ext cx="752580" cy="1714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Design-Data Flow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758E4AAE-2AF0-4C4F-A85E-2009695FF8DF}"/>
              </a:ext>
            </a:extLst>
          </p:cNvPr>
          <p:cNvPicPr>
            <a:picLocks noChangeAspect="1"/>
          </p:cNvPicPr>
          <p:nvPr/>
        </p:nvPicPr>
        <p:blipFill>
          <a:blip r:embed="rId3"/>
          <a:stretch>
            <a:fillRect/>
          </a:stretch>
        </p:blipFill>
        <p:spPr>
          <a:xfrm>
            <a:off x="24601" y="6652987"/>
            <a:ext cx="752580" cy="17147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77ACA7B0-E20C-4664-9266-75B32E4249C5}"/>
              </a:ext>
            </a:extLst>
          </p:cNvPr>
          <p:cNvPicPr>
            <a:picLocks noChangeAspect="1"/>
          </p:cNvPicPr>
          <p:nvPr/>
        </p:nvPicPr>
        <p:blipFill>
          <a:blip r:embed="rId3"/>
          <a:stretch>
            <a:fillRect/>
          </a:stretch>
        </p:blipFill>
        <p:spPr>
          <a:xfrm>
            <a:off x="34542" y="6652986"/>
            <a:ext cx="752580" cy="17147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629E525F-C215-432D-94BB-96E5311BC31B}"/>
              </a:ext>
            </a:extLst>
          </p:cNvPr>
          <p:cNvPicPr>
            <a:picLocks noChangeAspect="1"/>
          </p:cNvPicPr>
          <p:nvPr/>
        </p:nvPicPr>
        <p:blipFill>
          <a:blip r:embed="rId3"/>
          <a:stretch>
            <a:fillRect/>
          </a:stretch>
        </p:blipFill>
        <p:spPr>
          <a:xfrm>
            <a:off x="34542" y="6662927"/>
            <a:ext cx="752580" cy="1714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A477ABD7-1662-480F-9452-8C53D99E2881}"/>
              </a:ext>
            </a:extLst>
          </p:cNvPr>
          <p:cNvPicPr>
            <a:picLocks noChangeAspect="1"/>
          </p:cNvPicPr>
          <p:nvPr/>
        </p:nvPicPr>
        <p:blipFill>
          <a:blip r:embed="rId3"/>
          <a:stretch>
            <a:fillRect/>
          </a:stretch>
        </p:blipFill>
        <p:spPr>
          <a:xfrm>
            <a:off x="24602" y="6652988"/>
            <a:ext cx="752580" cy="17147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17C4EDFA-F62C-450B-AA14-F86B57AFCFBD}"/>
              </a:ext>
            </a:extLst>
          </p:cNvPr>
          <p:cNvPicPr>
            <a:picLocks noChangeAspect="1"/>
          </p:cNvPicPr>
          <p:nvPr/>
        </p:nvPicPr>
        <p:blipFill>
          <a:blip r:embed="rId3"/>
          <a:stretch>
            <a:fillRect/>
          </a:stretch>
        </p:blipFill>
        <p:spPr>
          <a:xfrm>
            <a:off x="4725" y="6672865"/>
            <a:ext cx="752580" cy="17147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Collaboration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67492B70-8B35-4A43-B3DA-734C476B376E}"/>
              </a:ext>
            </a:extLst>
          </p:cNvPr>
          <p:cNvPicPr>
            <a:picLocks noChangeAspect="1"/>
          </p:cNvPicPr>
          <p:nvPr/>
        </p:nvPicPr>
        <p:blipFill>
          <a:blip r:embed="rId3"/>
          <a:stretch>
            <a:fillRect/>
          </a:stretch>
        </p:blipFill>
        <p:spPr>
          <a:xfrm>
            <a:off x="24602" y="6662927"/>
            <a:ext cx="752580" cy="17147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E754B310-6E4B-41EB-B2B6-34E110DEA0E6}"/>
              </a:ext>
            </a:extLst>
          </p:cNvPr>
          <p:cNvPicPr>
            <a:picLocks noChangeAspect="1"/>
          </p:cNvPicPr>
          <p:nvPr/>
        </p:nvPicPr>
        <p:blipFill>
          <a:blip r:embed="rId3"/>
          <a:stretch>
            <a:fillRect/>
          </a:stretch>
        </p:blipFill>
        <p:spPr>
          <a:xfrm>
            <a:off x="4725" y="6662929"/>
            <a:ext cx="752580" cy="17147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Diagram</a:t>
            </a:r>
            <a:endParaRPr lang="en-IN" dirty="0"/>
          </a:p>
        </p:txBody>
      </p:sp>
      <p:pic>
        <p:nvPicPr>
          <p:cNvPr id="4" name="Picture 3"/>
          <p:cNvPicPr>
            <a:picLocks noChangeAspect="1"/>
          </p:cNvPicPr>
          <p:nvPr/>
        </p:nvPicPr>
        <p:blipFill>
          <a:blip r:embed="rId2"/>
          <a:stretch>
            <a:fillRect/>
          </a:stretch>
        </p:blipFill>
        <p:spPr>
          <a:xfrm>
            <a:off x="457200" y="1143000"/>
            <a:ext cx="11278800" cy="5486400"/>
          </a:xfrm>
          <a:prstGeom prst="rect">
            <a:avLst/>
          </a:prstGeom>
        </p:spPr>
      </p:pic>
      <p:pic>
        <p:nvPicPr>
          <p:cNvPr id="3" name="Picture 2">
            <a:extLst>
              <a:ext uri="{FF2B5EF4-FFF2-40B4-BE49-F238E27FC236}">
                <a16:creationId xmlns:a16="http://schemas.microsoft.com/office/drawing/2014/main" id="{674DD62D-76F9-4098-82E4-F25A511F0261}"/>
              </a:ext>
            </a:extLst>
          </p:cNvPr>
          <p:cNvPicPr>
            <a:picLocks noChangeAspect="1"/>
          </p:cNvPicPr>
          <p:nvPr/>
        </p:nvPicPr>
        <p:blipFill>
          <a:blip r:embed="rId3"/>
          <a:stretch>
            <a:fillRect/>
          </a:stretch>
        </p:blipFill>
        <p:spPr>
          <a:xfrm>
            <a:off x="14663" y="6662927"/>
            <a:ext cx="752580" cy="1714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FC410-C9CF-41CC-855D-F7264E1146CF}"/>
              </a:ext>
            </a:extLst>
          </p:cNvPr>
          <p:cNvSpPr>
            <a:spLocks noGrp="1"/>
          </p:cNvSpPr>
          <p:nvPr>
            <p:ph type="title"/>
          </p:nvPr>
        </p:nvSpPr>
        <p:spPr/>
        <p:txBody>
          <a:bodyPr/>
          <a:lstStyle/>
          <a:p>
            <a:r>
              <a:rPr lang="en-US" dirty="0"/>
              <a:t>Implementation</a:t>
            </a:r>
            <a:endParaRPr lang="en-IN" dirty="0"/>
          </a:p>
        </p:txBody>
      </p:sp>
      <p:sp>
        <p:nvSpPr>
          <p:cNvPr id="4" name="Rectangle 1">
            <a:extLst>
              <a:ext uri="{FF2B5EF4-FFF2-40B4-BE49-F238E27FC236}">
                <a16:creationId xmlns:a16="http://schemas.microsoft.com/office/drawing/2014/main" id="{82F7B3A1-2F02-47A5-89E4-1496279B301E}"/>
              </a:ext>
            </a:extLst>
          </p:cNvPr>
          <p:cNvSpPr>
            <a:spLocks noGrp="1" noChangeArrowheads="1"/>
          </p:cNvSpPr>
          <p:nvPr>
            <p:ph idx="1"/>
          </p:nvPr>
        </p:nvSpPr>
        <p:spPr bwMode="auto">
          <a:xfrm>
            <a:off x="199505" y="947826"/>
            <a:ext cx="10976495"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 implementation phase focuses on developing the proposed system using suitable tools and technologies.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 dataset is first imported and preprocessed to remove noise and prepare it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Important features are extracted from the data to improve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Machine learning algorithms are applied for model training and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 trained model is evaluated to measure accuracy and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 system is integrated into a web application with user authentication for secure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Finally, the system generates real-time predictions based on user input.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pic>
        <p:nvPicPr>
          <p:cNvPr id="3" name="Picture 2">
            <a:extLst>
              <a:ext uri="{FF2B5EF4-FFF2-40B4-BE49-F238E27FC236}">
                <a16:creationId xmlns:a16="http://schemas.microsoft.com/office/drawing/2014/main" id="{C8FF86D8-4A3D-4A9A-BEB8-27563961E5EF}"/>
              </a:ext>
            </a:extLst>
          </p:cNvPr>
          <p:cNvPicPr>
            <a:picLocks noChangeAspect="1"/>
          </p:cNvPicPr>
          <p:nvPr/>
        </p:nvPicPr>
        <p:blipFill>
          <a:blip r:embed="rId2"/>
          <a:stretch>
            <a:fillRect/>
          </a:stretch>
        </p:blipFill>
        <p:spPr>
          <a:xfrm>
            <a:off x="4722" y="6662928"/>
            <a:ext cx="752580" cy="171474"/>
          </a:xfrm>
          <a:prstGeom prst="rect">
            <a:avLst/>
          </a:prstGeom>
        </p:spPr>
      </p:pic>
    </p:spTree>
    <p:extLst>
      <p:ext uri="{BB962C8B-B14F-4D97-AF65-F5344CB8AC3E}">
        <p14:creationId xmlns:p14="http://schemas.microsoft.com/office/powerpoint/2010/main" val="3607784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 Flow of work (Part 1)</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asvg="http://schemas.microsoft.com/office/drawing/2016/SVG/main" r:embed="rId3"/>
                    </a:ext>
                  </a:extLst>
                </a:blip>
              </a:buBlip>
            </a:pPr>
            <a:r>
              <a:rPr lang="en-US" dirty="0"/>
              <a:t>Import Packages: All Python libraries for deep learning, data processing, image handling, and numerical computation are loaded.</a:t>
            </a:r>
          </a:p>
          <a:p>
            <a:pPr marL="462280" indent="-462280">
              <a:buBlip>
                <a:blip r:embed="rId2">
                  <a:extLst>
                    <a:ext uri="{96DAC541-7B7A-43D3-8B79-37D633B846F1}">
                      <asvg:svgBlip xmlns:asvg="http://schemas.microsoft.com/office/drawing/2016/SVG/main" r:embed="rId3"/>
                    </a:ext>
                  </a:extLst>
                </a:blip>
              </a:buBlip>
            </a:pPr>
            <a:r>
              <a:rPr lang="en-US" dirty="0"/>
              <a:t>Explore Dataset: Plant images mapped to seasons and environmental features are loaded and examined — image dimensions, distributions, missing values, duplicates.</a:t>
            </a:r>
          </a:p>
          <a:p>
            <a:pPr marL="462280" indent="-462280">
              <a:buBlip>
                <a:blip r:embed="rId2">
                  <a:extLst>
                    <a:ext uri="{96DAC541-7B7A-43D3-8B79-37D633B846F1}">
                      <asvg:svgBlip xmlns:asvg="http://schemas.microsoft.com/office/drawing/2016/SVG/main" r:embed="rId3"/>
                    </a:ext>
                  </a:extLst>
                </a:blip>
              </a:buBlip>
            </a:pPr>
            <a:r>
              <a:rPr lang="en-US" dirty="0"/>
              <a:t>Preprocessing: Images undergo augmentation (rotation, scaling, flipping); environmental features cleaned (missing-value handling, duplicate removal). Inputs standardized.</a:t>
            </a:r>
          </a:p>
          <a:p>
            <a:pPr marL="462280" indent="-462280">
              <a:buBlip>
                <a:blip r:embed="rId2">
                  <a:extLst>
                    <a:ext uri="{96DAC541-7B7A-43D3-8B79-37D633B846F1}">
                      <asvg:svgBlip xmlns:asvg="http://schemas.microsoft.com/office/drawing/2016/SVG/main" r:embed="rId3"/>
                    </a:ext>
                  </a:extLst>
                </a:blip>
              </a:buBlip>
            </a:pPr>
            <a:r>
              <a:rPr lang="en-US" dirty="0"/>
              <a:t>Feature Extraction: CNN, VGG16, ResNet50, Xception, NASNetLarge extract seasonal image features. Environmental features normalized for subsequent fusion.</a:t>
            </a:r>
          </a:p>
          <a:p>
            <a:pPr marL="462280" indent="-462280">
              <a:buBlip>
                <a:blip r:embed="rId2">
                  <a:extLst>
                    <a:ext uri="{96DAC541-7B7A-43D3-8B79-37D633B846F1}">
                      <asvg:svgBlip xmlns:asvg="http://schemas.microsoft.com/office/drawing/2016/SVG/main" r:embed="rId3"/>
                    </a:ext>
                  </a:extLst>
                </a:blip>
              </a:buBlip>
            </a:pPr>
            <a:r>
              <a:rPr lang="en-US" dirty="0"/>
              <a:t>Feature Fusion: Extracted image and environmental features combined at feature level — integrating visual and contextual cues into a unified representation.</a:t>
            </a:r>
          </a:p>
        </p:txBody>
      </p:sp>
      <p:pic>
        <p:nvPicPr>
          <p:cNvPr id="4" name="Picture 3">
            <a:extLst>
              <a:ext uri="{FF2B5EF4-FFF2-40B4-BE49-F238E27FC236}">
                <a16:creationId xmlns:a16="http://schemas.microsoft.com/office/drawing/2014/main" id="{7E6879A9-86AD-4EAB-ABB2-7548DF3FBDB9}"/>
              </a:ext>
            </a:extLst>
          </p:cNvPr>
          <p:cNvPicPr>
            <a:picLocks noChangeAspect="1"/>
          </p:cNvPicPr>
          <p:nvPr/>
        </p:nvPicPr>
        <p:blipFill>
          <a:blip r:embed="rId4"/>
          <a:stretch>
            <a:fillRect/>
          </a:stretch>
        </p:blipFill>
        <p:spPr>
          <a:xfrm>
            <a:off x="24604" y="6672864"/>
            <a:ext cx="752580" cy="17147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—Flow of work (Part 2)</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asvg="http://schemas.microsoft.com/office/drawing/2016/SVG/main" r:embed="rId3"/>
                    </a:ext>
                  </a:extLst>
                </a:blip>
              </a:buBlip>
            </a:pPr>
            <a:r>
              <a:rPr lang="en-US" dirty="0"/>
              <a:t>Train/Test Split: Dataset divided into training and testing subsets to prevent overfitting and validate generalization.</a:t>
            </a:r>
          </a:p>
          <a:p>
            <a:pPr marL="462280" indent="-462280">
              <a:buBlip>
                <a:blip r:embed="rId2">
                  <a:extLst>
                    <a:ext uri="{96DAC541-7B7A-43D3-8B79-37D633B846F1}">
                      <asvg:svgBlip xmlns:asvg="http://schemas.microsoft.com/office/drawing/2016/SVG/main" r:embed="rId3"/>
                    </a:ext>
                  </a:extLst>
                </a:blip>
              </a:buBlip>
            </a:pPr>
            <a:r>
              <a:rPr lang="en-US" dirty="0"/>
              <a:t>Model Training: All models (CNN, VGG16, ResNet50, Xception, NASNetLarge, Fusion Hybrid) trained on preprocessed data to learn seasonal patterns.</a:t>
            </a:r>
          </a:p>
          <a:p>
            <a:pPr marL="462280" indent="-462280">
              <a:buBlip>
                <a:blip r:embed="rId2">
                  <a:extLst>
                    <a:ext uri="{96DAC541-7B7A-43D3-8B79-37D633B846F1}">
                      <asvg:svgBlip xmlns:asvg="http://schemas.microsoft.com/office/drawing/2016/SVG/main" r:embed="rId3"/>
                    </a:ext>
                  </a:extLst>
                </a:blip>
              </a:buBlip>
            </a:pPr>
            <a:r>
              <a:rPr lang="en-US" dirty="0"/>
              <a:t>Evaluation: Models assessed using accuracy, precision, recall, F1-score, specificity, and sensitivity metrics.</a:t>
            </a:r>
          </a:p>
          <a:p>
            <a:pPr marL="462280" indent="-462280">
              <a:buBlip>
                <a:blip r:embed="rId2">
                  <a:extLst>
                    <a:ext uri="{96DAC541-7B7A-43D3-8B79-37D633B846F1}">
                      <asvg:svgBlip xmlns:asvg="http://schemas.microsoft.com/office/drawing/2016/SVG/main" r:embed="rId3"/>
                    </a:ext>
                  </a:extLst>
                </a:blip>
              </a:buBlip>
            </a:pPr>
            <a:r>
              <a:rPr lang="en-US" dirty="0"/>
              <a:t>Flask Deployment: System deployed via Flask handling HTTP requests, input submission, and model interaction through a browser-based UI.</a:t>
            </a:r>
          </a:p>
          <a:p>
            <a:pPr marL="462280" indent="-462280">
              <a:buBlip>
                <a:blip r:embed="rId2">
                  <a:extLst>
                    <a:ext uri="{96DAC541-7B7A-43D3-8B79-37D633B846F1}">
                      <asvg:svgBlip xmlns:asvg="http://schemas.microsoft.com/office/drawing/2016/SVG/main" r:embed="rId3"/>
                    </a:ext>
                  </a:extLst>
                </a:blip>
              </a:buBlip>
            </a:pPr>
            <a:r>
              <a:rPr lang="en-US" dirty="0"/>
              <a:t>User Auth: Secure account creation and login via SQLite for controlled, personalized access.</a:t>
            </a:r>
          </a:p>
          <a:p>
            <a:pPr marL="462280" indent="-462280">
              <a:buBlip>
                <a:blip r:embed="rId2">
                  <a:extLst>
                    <a:ext uri="{96DAC541-7B7A-43D3-8B79-37D633B846F1}">
                      <asvg:svgBlip xmlns:asvg="http://schemas.microsoft.com/office/drawing/2016/SVG/main" r:embed="rId3"/>
                    </a:ext>
                  </a:extLst>
                </a:blip>
              </a:buBlip>
            </a:pPr>
            <a:r>
              <a:rPr lang="en-US" dirty="0"/>
              <a:t>Final Prediction: Fusion model generates seasonal prediction with confidence score from user-submitted plant image and environmental inputs.</a:t>
            </a:r>
          </a:p>
        </p:txBody>
      </p:sp>
      <p:pic>
        <p:nvPicPr>
          <p:cNvPr id="4" name="Picture 3">
            <a:extLst>
              <a:ext uri="{FF2B5EF4-FFF2-40B4-BE49-F238E27FC236}">
                <a16:creationId xmlns:a16="http://schemas.microsoft.com/office/drawing/2014/main" id="{CD01E237-B810-4AC9-B1A8-BB795552C39C}"/>
              </a:ext>
            </a:extLst>
          </p:cNvPr>
          <p:cNvPicPr>
            <a:picLocks noChangeAspect="1"/>
          </p:cNvPicPr>
          <p:nvPr/>
        </p:nvPicPr>
        <p:blipFill>
          <a:blip r:embed="rId4"/>
          <a:stretch>
            <a:fillRect/>
          </a:stretch>
        </p:blipFill>
        <p:spPr>
          <a:xfrm>
            <a:off x="14663" y="6662930"/>
            <a:ext cx="752580" cy="17147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Implementation-Algorithms Used</a:t>
            </a:r>
            <a:endParaRPr lang="en-IN" dirty="0"/>
          </a:p>
        </p:txBody>
      </p:sp>
      <p:sp>
        <p:nvSpPr>
          <p:cNvPr id="3" name="Content Placeholder 2"/>
          <p:cNvSpPr>
            <a:spLocks noGrp="1"/>
          </p:cNvSpPr>
          <p:nvPr>
            <p:ph idx="1"/>
          </p:nvPr>
        </p:nvSpPr>
        <p:spPr/>
        <p:txBody>
          <a:bodyPr>
            <a:normAutofit/>
          </a:bodyPr>
          <a:lstStyle/>
          <a:p>
            <a:pPr marL="462280" indent="-462280">
              <a:buBlip>
                <a:blip r:embed="rId2">
                  <a:extLst>
                    <a:ext uri="{96DAC541-7B7A-43D3-8B79-37D633B846F1}">
                      <asvg:svgBlip xmlns:asvg="http://schemas.microsoft.com/office/drawing/2016/SVG/main" r:embed="rId3"/>
                    </a:ext>
                  </a:extLst>
                </a:blip>
              </a:buBlip>
            </a:pPr>
            <a:r>
              <a:rPr lang="en-US" sz="2400" dirty="0"/>
              <a:t>Baseline CNN: Convolutional + pooling + fully connected layers. Learns spatial hierarchies for visual feature extraction. Serves as baseline for comparison.</a:t>
            </a:r>
          </a:p>
          <a:p>
            <a:pPr marL="462280" indent="-462280">
              <a:buBlip>
                <a:blip r:embed="rId2">
                  <a:extLst>
                    <a:ext uri="{96DAC541-7B7A-43D3-8B79-37D633B846F1}">
                      <asvg:svgBlip xmlns:asvg="http://schemas.microsoft.com/office/drawing/2016/SVG/main" r:embed="rId3"/>
                    </a:ext>
                  </a:extLst>
                </a:blip>
              </a:buBlip>
            </a:pPr>
            <a:r>
              <a:rPr lang="en-US" sz="2400" dirty="0"/>
              <a:t>VGG16: Sequential 3×3 convolutional layers + max-pooling. Captures low-level textures to complex patterns; robust for high-resolution image classification.</a:t>
            </a:r>
          </a:p>
          <a:p>
            <a:pPr marL="462280" indent="-462280">
              <a:buBlip>
                <a:blip r:embed="rId2">
                  <a:extLst>
                    <a:ext uri="{96DAC541-7B7A-43D3-8B79-37D633B846F1}">
                      <asvg:svgBlip xmlns:asvg="http://schemas.microsoft.com/office/drawing/2016/SVG/main" r:embed="rId3"/>
                    </a:ext>
                  </a:extLst>
                </a:blip>
              </a:buBlip>
            </a:pPr>
            <a:r>
              <a:rPr lang="en-US" sz="2400" dirty="0"/>
              <a:t>ResNet50: 50-layer residual network with skip connections. Overcomes vanishing gradient — enables deep feature learning without performance degradation.</a:t>
            </a:r>
          </a:p>
          <a:p>
            <a:pPr marL="462280" indent="-462280">
              <a:buBlip>
                <a:blip r:embed="rId2">
                  <a:extLst>
                    <a:ext uri="{96DAC541-7B7A-43D3-8B79-37D633B846F1}">
                      <asvg:svgBlip xmlns:asvg="http://schemas.microsoft.com/office/drawing/2016/SVG/main" r:embed="rId3"/>
                    </a:ext>
                  </a:extLst>
                </a:blip>
              </a:buBlip>
            </a:pPr>
            <a:r>
              <a:rPr lang="en-US" sz="2400" dirty="0"/>
              <a:t>Xception: Depthwise separable convolutions decouple spatial/channel learning — efficient fine-grained feature extraction with reduced computational cost.</a:t>
            </a:r>
          </a:p>
          <a:p>
            <a:pPr marL="462280" indent="-462280">
              <a:buBlip>
                <a:blip r:embed="rId2">
                  <a:extLst>
                    <a:ext uri="{96DAC541-7B7A-43D3-8B79-37D633B846F1}">
                      <asvg:svgBlip xmlns:asvg="http://schemas.microsoft.com/office/drawing/2016/SVG/main" r:embed="rId3"/>
                    </a:ext>
                  </a:extLst>
                </a:blip>
              </a:buBlip>
            </a:pPr>
            <a:r>
              <a:rPr lang="en-US" sz="2400" dirty="0"/>
              <a:t>NASNetLarge: Neural Architecture Search-optimized model with normal/reduction cells. Captures complex spatial patterns and high-level abstractions efficiently.</a:t>
            </a:r>
          </a:p>
          <a:p>
            <a:pPr marL="462280" indent="-462280">
              <a:buBlip>
                <a:blip r:embed="rId2">
                  <a:extLst>
                    <a:ext uri="{96DAC541-7B7A-43D3-8B79-37D633B846F1}">
                      <asvg:svgBlip xmlns:asvg="http://schemas.microsoft.com/office/drawing/2016/SVG/main" r:embed="rId3"/>
                    </a:ext>
                  </a:extLst>
                </a:blip>
              </a:buBlip>
            </a:pPr>
            <a:r>
              <a:rPr lang="en-US" sz="2400" dirty="0"/>
              <a:t>Fusion Hybrid Model: Integrates features from all five architectures + environmental MLP embeddings — comprehensive multimodal representation for superior seasonal classification.</a:t>
            </a:r>
          </a:p>
        </p:txBody>
      </p:sp>
      <p:pic>
        <p:nvPicPr>
          <p:cNvPr id="4" name="Picture 3">
            <a:extLst>
              <a:ext uri="{FF2B5EF4-FFF2-40B4-BE49-F238E27FC236}">
                <a16:creationId xmlns:a16="http://schemas.microsoft.com/office/drawing/2014/main" id="{06000BBD-F8E2-4C5A-98E6-81A3EC0CCB12}"/>
              </a:ext>
            </a:extLst>
          </p:cNvPr>
          <p:cNvPicPr>
            <a:picLocks noChangeAspect="1"/>
          </p:cNvPicPr>
          <p:nvPr/>
        </p:nvPicPr>
        <p:blipFill>
          <a:blip r:embed="rId4"/>
          <a:stretch>
            <a:fillRect/>
          </a:stretch>
        </p:blipFill>
        <p:spPr>
          <a:xfrm>
            <a:off x="-64851" y="6662928"/>
            <a:ext cx="752580" cy="1714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Evaluation</a:t>
            </a:r>
            <a:endParaRPr lang="en-IN" dirty="0"/>
          </a:p>
        </p:txBody>
      </p:sp>
      <p:sp>
        <p:nvSpPr>
          <p:cNvPr id="3" name="Content Placeholder 2"/>
          <p:cNvSpPr>
            <a:spLocks noGrp="1"/>
          </p:cNvSpPr>
          <p:nvPr>
            <p:ph idx="1"/>
          </p:nvPr>
        </p:nvSpPr>
        <p:spPr/>
        <p:txBody>
          <a:bodyPr>
            <a:normAutofit/>
          </a:bodyPr>
          <a:lstStyle/>
          <a:p>
            <a:pPr marL="0" indent="0">
              <a:buNone/>
            </a:pPr>
            <a:r>
              <a:rPr lang="en-US" sz="2400" dirty="0"/>
              <a:t>Model Comparison Results:</a:t>
            </a:r>
          </a:p>
          <a:p>
            <a:pPr marL="462280" indent="-462280">
              <a:buBlip>
                <a:blip r:embed="rId2">
                  <a:extLst>
                    <a:ext uri="{96DAC541-7B7A-43D3-8B79-37D633B846F1}">
                      <asvg:svgBlip xmlns:asvg="http://schemas.microsoft.com/office/drawing/2016/SVG/main" r:embed="rId3"/>
                    </a:ext>
                  </a:extLst>
                </a:blip>
              </a:buBlip>
            </a:pPr>
            <a:r>
              <a:rPr lang="en-US" sz="2400" dirty="0"/>
              <a:t>Baseline CNN:      Accuracy 95.64%  |  Specificity 98.68%  |  Sensitivity 94.39%</a:t>
            </a:r>
          </a:p>
          <a:p>
            <a:pPr marL="462280" indent="-462280">
              <a:buBlip>
                <a:blip r:embed="rId2">
                  <a:extLst>
                    <a:ext uri="{96DAC541-7B7A-43D3-8B79-37D633B846F1}">
                      <asvg:svgBlip xmlns:asvg="http://schemas.microsoft.com/office/drawing/2016/SVG/main" r:embed="rId3"/>
                    </a:ext>
                  </a:extLst>
                </a:blip>
              </a:buBlip>
            </a:pPr>
            <a:r>
              <a:rPr lang="en-US" sz="2400" dirty="0"/>
              <a:t>VGG16:             Accuracy 99.51%  |  Specificity 99.86%  |  Sensitivity 99.39%</a:t>
            </a:r>
          </a:p>
          <a:p>
            <a:pPr marL="462280" indent="-462280">
              <a:buBlip>
                <a:blip r:embed="rId2">
                  <a:extLst>
                    <a:ext uri="{96DAC541-7B7A-43D3-8B79-37D633B846F1}">
                      <asvg:svgBlip xmlns:asvg="http://schemas.microsoft.com/office/drawing/2016/SVG/main" r:embed="rId3"/>
                    </a:ext>
                  </a:extLst>
                </a:blip>
              </a:buBlip>
            </a:pPr>
            <a:r>
              <a:rPr lang="en-US" sz="2400" dirty="0"/>
              <a:t>ResNet50:          Accuracy 99.93%  |  Specificity 99.98%  |  Sensitivity 99.89%</a:t>
            </a:r>
          </a:p>
          <a:p>
            <a:pPr marL="462280" indent="-462280">
              <a:buBlip>
                <a:blip r:embed="rId2">
                  <a:extLst>
                    <a:ext uri="{96DAC541-7B7A-43D3-8B79-37D633B846F1}">
                      <asvg:svgBlip xmlns:asvg="http://schemas.microsoft.com/office/drawing/2016/SVG/main" r:embed="rId3"/>
                    </a:ext>
                  </a:extLst>
                </a:blip>
              </a:buBlip>
            </a:pPr>
            <a:r>
              <a:rPr lang="en-US" sz="2400" dirty="0"/>
              <a:t>Xception:          Accuracy 99.76%  |  Specificity 99.94%  |  Sensitivity 99.85%</a:t>
            </a:r>
          </a:p>
          <a:p>
            <a:pPr marL="462280" indent="-462280">
              <a:buBlip>
                <a:blip r:embed="rId2">
                  <a:extLst>
                    <a:ext uri="{96DAC541-7B7A-43D3-8B79-37D633B846F1}">
                      <asvg:svgBlip xmlns:asvg="http://schemas.microsoft.com/office/drawing/2016/SVG/main" r:embed="rId3"/>
                    </a:ext>
                  </a:extLst>
                </a:blip>
              </a:buBlip>
            </a:pPr>
            <a:r>
              <a:rPr lang="en-US" sz="2400" dirty="0"/>
              <a:t>NASNetLarge:       Accuracy 99.87%  |  Specificity 99.97%  |  Sensitivity 99.86%</a:t>
            </a:r>
          </a:p>
          <a:p>
            <a:pPr marL="462280" indent="-462280">
              <a:buBlip>
                <a:blip r:embed="rId2">
                  <a:extLst>
                    <a:ext uri="{96DAC541-7B7A-43D3-8B79-37D633B846F1}">
                      <asvg:svgBlip xmlns:asvg="http://schemas.microsoft.com/office/drawing/2016/SVG/main" r:embed="rId3"/>
                    </a:ext>
                  </a:extLst>
                </a:blip>
              </a:buBlip>
            </a:pPr>
            <a:r>
              <a:rPr lang="en-US" sz="2400" dirty="0"/>
              <a:t>Fusion Hybrid:     Accuracy 99.94%  |  Specificity 99.99%  |  Sensitivity 99.91%  ★ Best</a:t>
            </a:r>
          </a:p>
          <a:p>
            <a:pPr marL="0" indent="0">
              <a:buNone/>
            </a:pPr>
            <a:r>
              <a:rPr lang="en-US" sz="2400" dirty="0"/>
              <a:t>The Fusion Hybrid Model achieves highest accuracy, specificity, and sensitivity — validating the effectiveness of multimodal feature fusion.</a:t>
            </a:r>
          </a:p>
        </p:txBody>
      </p:sp>
      <p:pic>
        <p:nvPicPr>
          <p:cNvPr id="4" name="Picture 3">
            <a:extLst>
              <a:ext uri="{FF2B5EF4-FFF2-40B4-BE49-F238E27FC236}">
                <a16:creationId xmlns:a16="http://schemas.microsoft.com/office/drawing/2014/main" id="{0F985A35-A6E5-403F-AE98-08990907D10B}"/>
              </a:ext>
            </a:extLst>
          </p:cNvPr>
          <p:cNvPicPr>
            <a:picLocks noChangeAspect="1"/>
          </p:cNvPicPr>
          <p:nvPr/>
        </p:nvPicPr>
        <p:blipFill>
          <a:blip r:embed="rId4"/>
          <a:stretch>
            <a:fillRect/>
          </a:stretch>
        </p:blipFill>
        <p:spPr>
          <a:xfrm>
            <a:off x="14665" y="6662928"/>
            <a:ext cx="752580" cy="1714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Comparison Graph</a:t>
            </a:r>
            <a:endParaRPr lang="en-IN" dirty="0"/>
          </a:p>
        </p:txBody>
      </p:sp>
      <p:pic>
        <p:nvPicPr>
          <p:cNvPr id="3" name="CompGraph"/>
          <p:cNvPicPr>
            <a:picLocks noChangeAspect="1"/>
          </p:cNvPicPr>
          <p:nvPr/>
        </p:nvPicPr>
        <p:blipFill>
          <a:blip r:embed="rId2"/>
          <a:stretch>
            <a:fillRect/>
          </a:stretch>
        </p:blipFill>
        <p:spPr>
          <a:xfrm>
            <a:off x="457200" y="1143000"/>
            <a:ext cx="10347158" cy="5033217"/>
          </a:xfrm>
          <a:prstGeom prst="rect">
            <a:avLst/>
          </a:prstGeom>
        </p:spPr>
      </p:pic>
      <p:pic>
        <p:nvPicPr>
          <p:cNvPr id="4" name="Picture 3">
            <a:extLst>
              <a:ext uri="{FF2B5EF4-FFF2-40B4-BE49-F238E27FC236}">
                <a16:creationId xmlns:a16="http://schemas.microsoft.com/office/drawing/2014/main" id="{B08A1A0E-2EC2-45C1-9D0B-DB827FC613D1}"/>
              </a:ext>
            </a:extLst>
          </p:cNvPr>
          <p:cNvPicPr>
            <a:picLocks noChangeAspect="1"/>
          </p:cNvPicPr>
          <p:nvPr/>
        </p:nvPicPr>
        <p:blipFill>
          <a:blip r:embed="rId3"/>
          <a:stretch>
            <a:fillRect/>
          </a:stretch>
        </p:blipFill>
        <p:spPr>
          <a:xfrm>
            <a:off x="4723" y="6652989"/>
            <a:ext cx="752580" cy="17147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1564-38BD-4728-B816-3ABABDABFCCE}"/>
              </a:ext>
            </a:extLst>
          </p:cNvPr>
          <p:cNvSpPr>
            <a:spLocks noGrp="1"/>
          </p:cNvSpPr>
          <p:nvPr>
            <p:ph type="title"/>
          </p:nvPr>
        </p:nvSpPr>
        <p:spPr/>
        <p:txBody>
          <a:bodyPr/>
          <a:lstStyle/>
          <a:p>
            <a:r>
              <a:rPr lang="en-US" dirty="0"/>
              <a:t>Research Paper Overview</a:t>
            </a:r>
            <a:endParaRPr lang="en-IN" dirty="0"/>
          </a:p>
        </p:txBody>
      </p:sp>
      <p:sp>
        <p:nvSpPr>
          <p:cNvPr id="3" name="Content Placeholder 2">
            <a:extLst>
              <a:ext uri="{FF2B5EF4-FFF2-40B4-BE49-F238E27FC236}">
                <a16:creationId xmlns:a16="http://schemas.microsoft.com/office/drawing/2014/main" id="{930BD636-C008-4DE2-8BBC-266554380223}"/>
              </a:ext>
            </a:extLst>
          </p:cNvPr>
          <p:cNvSpPr>
            <a:spLocks noGrp="1"/>
          </p:cNvSpPr>
          <p:nvPr>
            <p:ph idx="1"/>
          </p:nvPr>
        </p:nvSpPr>
        <p:spPr/>
        <p:txBody>
          <a:bodyPr/>
          <a:lstStyle/>
          <a:p>
            <a:pPr algn="l"/>
            <a:r>
              <a:rPr lang="en-US" b="1" dirty="0"/>
              <a:t>Title:</a:t>
            </a:r>
            <a:br>
              <a:rPr lang="en-US" dirty="0"/>
            </a:br>
            <a:r>
              <a:rPr lang="en-US" i="1" dirty="0" err="1"/>
              <a:t>EcoVision</a:t>
            </a:r>
            <a:r>
              <a:rPr lang="en-US" i="1" dirty="0"/>
              <a:t>: Deep Learning Model for Seasonal Detection</a:t>
            </a:r>
            <a:endParaRPr lang="en-US" dirty="0"/>
          </a:p>
          <a:p>
            <a:pPr algn="l"/>
            <a:r>
              <a:rPr lang="en-US" b="1" dirty="0"/>
              <a:t>Conference:</a:t>
            </a:r>
            <a:br>
              <a:rPr lang="en-US" dirty="0"/>
            </a:br>
            <a:r>
              <a:rPr lang="en-US" dirty="0"/>
              <a:t>Submitted to </a:t>
            </a:r>
            <a:r>
              <a:rPr lang="en-US" b="1" dirty="0"/>
              <a:t>SCITEPRESS Conference Proceedings</a:t>
            </a:r>
            <a:endParaRPr lang="en-US" dirty="0"/>
          </a:p>
          <a:p>
            <a:pPr algn="l"/>
            <a:r>
              <a:rPr lang="en-US" b="1" dirty="0"/>
              <a:t>Research Aim:</a:t>
            </a:r>
            <a:endParaRPr lang="en-US" dirty="0"/>
          </a:p>
          <a:p>
            <a:pPr algn="l"/>
            <a:r>
              <a:rPr lang="en-US" dirty="0"/>
              <a:t>To develop a system that detects seasons using Tree images with the integration of environmental parameters.</a:t>
            </a:r>
          </a:p>
          <a:p>
            <a:pPr algn="l"/>
            <a:r>
              <a:rPr lang="en-US" b="1" dirty="0"/>
              <a:t>Approach Used:</a:t>
            </a:r>
            <a:endParaRPr lang="en-US" dirty="0"/>
          </a:p>
          <a:p>
            <a:pPr marL="0" indent="0" algn="l">
              <a:buNone/>
            </a:pPr>
            <a:r>
              <a:rPr lang="en-US" dirty="0"/>
              <a:t>1. Image data collection and preprocessing</a:t>
            </a:r>
          </a:p>
          <a:p>
            <a:pPr marL="0" indent="0" algn="l">
              <a:buNone/>
            </a:pPr>
            <a:r>
              <a:rPr lang="en-US" dirty="0"/>
              <a:t>2. Deep learning model for classification</a:t>
            </a:r>
          </a:p>
          <a:p>
            <a:pPr marL="0" indent="0" algn="l">
              <a:buNone/>
            </a:pPr>
            <a:r>
              <a:rPr lang="en-US" dirty="0"/>
              <a:t>3. Integration of hybrid model for better prediction</a:t>
            </a:r>
          </a:p>
          <a:p>
            <a:pPr algn="l"/>
            <a:endParaRPr lang="en-IN" dirty="0"/>
          </a:p>
        </p:txBody>
      </p:sp>
    </p:spTree>
    <p:extLst>
      <p:ext uri="{BB962C8B-B14F-4D97-AF65-F5344CB8AC3E}">
        <p14:creationId xmlns:p14="http://schemas.microsoft.com/office/powerpoint/2010/main" val="877250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B558-A401-4992-9113-A05D7E19D961}"/>
              </a:ext>
            </a:extLst>
          </p:cNvPr>
          <p:cNvSpPr>
            <a:spLocks noGrp="1"/>
          </p:cNvSpPr>
          <p:nvPr>
            <p:ph type="title"/>
          </p:nvPr>
        </p:nvSpPr>
        <p:spPr/>
        <p:txBody>
          <a:bodyPr/>
          <a:lstStyle/>
          <a:p>
            <a:r>
              <a:rPr lang="en-US" dirty="0"/>
              <a:t>Research Paper Contribution</a:t>
            </a:r>
            <a:endParaRPr lang="en-IN" dirty="0"/>
          </a:p>
        </p:txBody>
      </p:sp>
      <p:sp>
        <p:nvSpPr>
          <p:cNvPr id="3" name="Content Placeholder 2">
            <a:extLst>
              <a:ext uri="{FF2B5EF4-FFF2-40B4-BE49-F238E27FC236}">
                <a16:creationId xmlns:a16="http://schemas.microsoft.com/office/drawing/2014/main" id="{850FB184-2651-4872-A4A9-02CEA1305F29}"/>
              </a:ext>
            </a:extLst>
          </p:cNvPr>
          <p:cNvSpPr>
            <a:spLocks noGrp="1"/>
          </p:cNvSpPr>
          <p:nvPr>
            <p:ph idx="1"/>
          </p:nvPr>
        </p:nvSpPr>
        <p:spPr/>
        <p:txBody>
          <a:bodyPr/>
          <a:lstStyle/>
          <a:p>
            <a:r>
              <a:rPr lang="en-US" b="1" dirty="0"/>
              <a:t>Key Contributions:</a:t>
            </a:r>
            <a:endParaRPr lang="en-US" dirty="0"/>
          </a:p>
          <a:p>
            <a:pPr marL="0" indent="0">
              <a:buNone/>
            </a:pPr>
            <a:r>
              <a:rPr lang="en-US" dirty="0"/>
              <a:t>1. Developed a </a:t>
            </a:r>
            <a:r>
              <a:rPr lang="en-US" b="1" dirty="0"/>
              <a:t>deep learning-based seasonal detection system</a:t>
            </a:r>
            <a:r>
              <a:rPr lang="en-US" dirty="0"/>
              <a:t>.</a:t>
            </a:r>
          </a:p>
          <a:p>
            <a:pPr marL="0" indent="0">
              <a:buNone/>
            </a:pPr>
            <a:r>
              <a:rPr lang="en-US" dirty="0"/>
              <a:t>2. Integrated </a:t>
            </a:r>
            <a:r>
              <a:rPr lang="en-US" b="1" dirty="0"/>
              <a:t>multiple models (hybrid approach)</a:t>
            </a:r>
            <a:r>
              <a:rPr lang="en-US" dirty="0"/>
              <a:t> for improved accuracy.</a:t>
            </a:r>
          </a:p>
          <a:p>
            <a:pPr marL="0" indent="0">
              <a:buNone/>
            </a:pPr>
            <a:r>
              <a:rPr lang="en-US" dirty="0"/>
              <a:t>3. Implemented the system in a </a:t>
            </a:r>
            <a:r>
              <a:rPr lang="en-US" b="1" dirty="0"/>
              <a:t>web-based application for real-time prediction</a:t>
            </a:r>
            <a:r>
              <a:rPr lang="en-US" dirty="0"/>
              <a:t>.</a:t>
            </a:r>
          </a:p>
          <a:p>
            <a:r>
              <a:rPr lang="en-US" b="1" dirty="0"/>
              <a:t>Benefits:</a:t>
            </a:r>
            <a:endParaRPr lang="en-US" dirty="0"/>
          </a:p>
          <a:p>
            <a:pPr marL="0" indent="0">
              <a:buNone/>
            </a:pPr>
            <a:r>
              <a:rPr lang="en-US" dirty="0"/>
              <a:t>1. Helps in </a:t>
            </a:r>
            <a:r>
              <a:rPr lang="en-US" b="1" dirty="0"/>
              <a:t>environmental monitoring</a:t>
            </a:r>
            <a:r>
              <a:rPr lang="en-US" dirty="0"/>
              <a:t>.</a:t>
            </a:r>
          </a:p>
          <a:p>
            <a:pPr marL="0" indent="0">
              <a:buNone/>
            </a:pPr>
            <a:r>
              <a:rPr lang="en-US" dirty="0"/>
              <a:t>2. Provides </a:t>
            </a:r>
            <a:r>
              <a:rPr lang="en-US" b="1" dirty="0"/>
              <a:t>accurate seasonal pattern prediction</a:t>
            </a:r>
            <a:r>
              <a:rPr lang="en-US" dirty="0"/>
              <a:t>.</a:t>
            </a:r>
          </a:p>
          <a:p>
            <a:r>
              <a:rPr lang="en-US" b="1" dirty="0"/>
              <a:t>Current Status:</a:t>
            </a:r>
            <a:endParaRPr lang="en-US" dirty="0"/>
          </a:p>
          <a:p>
            <a:pPr marL="0" indent="0">
              <a:buNone/>
            </a:pPr>
            <a:r>
              <a:rPr lang="en-US" dirty="0"/>
              <a:t>1.Research paper prepared and </a:t>
            </a:r>
            <a:r>
              <a:rPr lang="en-US" b="1" dirty="0"/>
              <a:t>submitted to SCITEPRESS for conference publication</a:t>
            </a:r>
            <a:r>
              <a:rPr lang="en-US" dirty="0"/>
              <a:t>.</a:t>
            </a:r>
          </a:p>
          <a:p>
            <a:endParaRPr lang="en-IN" dirty="0"/>
          </a:p>
        </p:txBody>
      </p:sp>
    </p:spTree>
    <p:extLst>
      <p:ext uri="{BB962C8B-B14F-4D97-AF65-F5344CB8AC3E}">
        <p14:creationId xmlns:p14="http://schemas.microsoft.com/office/powerpoint/2010/main" val="3638549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B66A-1814-4FF4-929C-1CB0B01C8D76}"/>
              </a:ext>
            </a:extLst>
          </p:cNvPr>
          <p:cNvSpPr>
            <a:spLocks noGrp="1"/>
          </p:cNvSpPr>
          <p:nvPr>
            <p:ph type="title"/>
          </p:nvPr>
        </p:nvSpPr>
        <p:spPr/>
        <p:txBody>
          <a:bodyPr/>
          <a:lstStyle/>
          <a:p>
            <a:r>
              <a:rPr lang="en-US" dirty="0"/>
              <a:t>Research paper Document</a:t>
            </a:r>
            <a:endParaRPr lang="en-IN" dirty="0"/>
          </a:p>
        </p:txBody>
      </p:sp>
      <p:pic>
        <p:nvPicPr>
          <p:cNvPr id="4" name="Content Placeholder 3">
            <a:extLst>
              <a:ext uri="{FF2B5EF4-FFF2-40B4-BE49-F238E27FC236}">
                <a16:creationId xmlns:a16="http://schemas.microsoft.com/office/drawing/2014/main" id="{5A8EE80D-84AA-4531-B7C5-078EFFF95BE9}"/>
              </a:ext>
            </a:extLst>
          </p:cNvPr>
          <p:cNvPicPr>
            <a:picLocks noGrp="1" noChangeAspect="1"/>
          </p:cNvPicPr>
          <p:nvPr>
            <p:ph idx="1"/>
          </p:nvPr>
        </p:nvPicPr>
        <p:blipFill>
          <a:blip r:embed="rId2"/>
          <a:stretch>
            <a:fillRect/>
          </a:stretch>
        </p:blipFill>
        <p:spPr>
          <a:xfrm>
            <a:off x="192311" y="961499"/>
            <a:ext cx="3737271" cy="5303834"/>
          </a:xfrm>
          <a:prstGeom prst="rect">
            <a:avLst/>
          </a:prstGeom>
        </p:spPr>
      </p:pic>
      <p:pic>
        <p:nvPicPr>
          <p:cNvPr id="5" name="Picture 4">
            <a:extLst>
              <a:ext uri="{FF2B5EF4-FFF2-40B4-BE49-F238E27FC236}">
                <a16:creationId xmlns:a16="http://schemas.microsoft.com/office/drawing/2014/main" id="{0F52781D-295D-4271-BC39-3B54A42C7F0B}"/>
              </a:ext>
            </a:extLst>
          </p:cNvPr>
          <p:cNvPicPr>
            <a:picLocks noChangeAspect="1"/>
          </p:cNvPicPr>
          <p:nvPr/>
        </p:nvPicPr>
        <p:blipFill>
          <a:blip r:embed="rId3"/>
          <a:stretch>
            <a:fillRect/>
          </a:stretch>
        </p:blipFill>
        <p:spPr>
          <a:xfrm>
            <a:off x="4047758" y="1003349"/>
            <a:ext cx="4064758" cy="5566783"/>
          </a:xfrm>
          <a:prstGeom prst="rect">
            <a:avLst/>
          </a:prstGeom>
        </p:spPr>
      </p:pic>
      <p:pic>
        <p:nvPicPr>
          <p:cNvPr id="6" name="Picture 5">
            <a:extLst>
              <a:ext uri="{FF2B5EF4-FFF2-40B4-BE49-F238E27FC236}">
                <a16:creationId xmlns:a16="http://schemas.microsoft.com/office/drawing/2014/main" id="{F4DCB5E5-F0E4-4D60-A5D3-E9F4DC2212D2}"/>
              </a:ext>
            </a:extLst>
          </p:cNvPr>
          <p:cNvPicPr>
            <a:picLocks noChangeAspect="1"/>
          </p:cNvPicPr>
          <p:nvPr/>
        </p:nvPicPr>
        <p:blipFill>
          <a:blip r:embed="rId4"/>
          <a:stretch>
            <a:fillRect/>
          </a:stretch>
        </p:blipFill>
        <p:spPr>
          <a:xfrm>
            <a:off x="8217680" y="1040950"/>
            <a:ext cx="3581167" cy="5407963"/>
          </a:xfrm>
          <a:prstGeom prst="rect">
            <a:avLst/>
          </a:prstGeom>
        </p:spPr>
      </p:pic>
    </p:spTree>
    <p:extLst>
      <p:ext uri="{BB962C8B-B14F-4D97-AF65-F5344CB8AC3E}">
        <p14:creationId xmlns:p14="http://schemas.microsoft.com/office/powerpoint/2010/main" val="2791979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a:t>
            </a:r>
            <a:endParaRPr lang="en-IN" dirty="0"/>
          </a:p>
        </p:txBody>
      </p:sp>
      <p:pic>
        <p:nvPicPr>
          <p:cNvPr id="4" name="Picture 3"/>
          <p:cNvPicPr>
            <a:picLocks noChangeAspect="1"/>
          </p:cNvPicPr>
          <p:nvPr/>
        </p:nvPicPr>
        <p:blipFill>
          <a:blip r:embed="rId2"/>
          <a:stretch>
            <a:fillRect/>
          </a:stretch>
        </p:blipFill>
        <p:spPr>
          <a:xfrm>
            <a:off x="5526506" y="1347536"/>
            <a:ext cx="5350042" cy="4434183"/>
          </a:xfrm>
          <a:prstGeom prst="rect">
            <a:avLst/>
          </a:prstGeom>
        </p:spPr>
      </p:pic>
      <p:pic>
        <p:nvPicPr>
          <p:cNvPr id="9" name="Picture 8">
            <a:extLst>
              <a:ext uri="{FF2B5EF4-FFF2-40B4-BE49-F238E27FC236}">
                <a16:creationId xmlns:a16="http://schemas.microsoft.com/office/drawing/2014/main" id="{A0D59C73-CA1A-B53D-319B-294DF65E5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237" y="1409722"/>
            <a:ext cx="5103252" cy="3787920"/>
          </a:xfrm>
          <a:prstGeom prst="rect">
            <a:avLst/>
          </a:prstGeom>
        </p:spPr>
      </p:pic>
      <p:pic>
        <p:nvPicPr>
          <p:cNvPr id="3" name="Picture 2">
            <a:extLst>
              <a:ext uri="{FF2B5EF4-FFF2-40B4-BE49-F238E27FC236}">
                <a16:creationId xmlns:a16="http://schemas.microsoft.com/office/drawing/2014/main" id="{90A7773A-3C8E-4984-8A5F-0CDF2D0A883E}"/>
              </a:ext>
            </a:extLst>
          </p:cNvPr>
          <p:cNvPicPr>
            <a:picLocks noChangeAspect="1"/>
          </p:cNvPicPr>
          <p:nvPr/>
        </p:nvPicPr>
        <p:blipFill>
          <a:blip r:embed="rId4"/>
          <a:stretch>
            <a:fillRect/>
          </a:stretch>
        </p:blipFill>
        <p:spPr>
          <a:xfrm>
            <a:off x="74298" y="6662927"/>
            <a:ext cx="752580" cy="17147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a:t>
            </a:r>
            <a:endParaRPr lang="en-IN" dirty="0"/>
          </a:p>
        </p:txBody>
      </p:sp>
      <p:pic>
        <p:nvPicPr>
          <p:cNvPr id="4" name="Picture 3"/>
          <p:cNvPicPr>
            <a:picLocks noChangeAspect="1"/>
          </p:cNvPicPr>
          <p:nvPr/>
        </p:nvPicPr>
        <p:blipFill>
          <a:blip r:embed="rId2"/>
          <a:stretch>
            <a:fillRect/>
          </a:stretch>
        </p:blipFill>
        <p:spPr>
          <a:xfrm>
            <a:off x="0" y="1271337"/>
            <a:ext cx="5562600" cy="4086726"/>
          </a:xfrm>
          <a:prstGeom prst="rect">
            <a:avLst/>
          </a:prstGeom>
        </p:spPr>
      </p:pic>
      <p:pic>
        <p:nvPicPr>
          <p:cNvPr id="8" name="Picture 7">
            <a:extLst>
              <a:ext uri="{FF2B5EF4-FFF2-40B4-BE49-F238E27FC236}">
                <a16:creationId xmlns:a16="http://schemas.microsoft.com/office/drawing/2014/main" id="{F8AB2370-D4FB-B77F-C93E-501B64E7A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1196138"/>
            <a:ext cx="4756484" cy="4974937"/>
          </a:xfrm>
          <a:prstGeom prst="rect">
            <a:avLst/>
          </a:prstGeom>
        </p:spPr>
      </p:pic>
      <p:pic>
        <p:nvPicPr>
          <p:cNvPr id="3" name="Picture 2">
            <a:extLst>
              <a:ext uri="{FF2B5EF4-FFF2-40B4-BE49-F238E27FC236}">
                <a16:creationId xmlns:a16="http://schemas.microsoft.com/office/drawing/2014/main" id="{55AF4E7F-4BE2-4167-86DD-8281371BB776}"/>
              </a:ext>
            </a:extLst>
          </p:cNvPr>
          <p:cNvPicPr>
            <a:picLocks noChangeAspect="1"/>
          </p:cNvPicPr>
          <p:nvPr/>
        </p:nvPicPr>
        <p:blipFill>
          <a:blip r:embed="rId4"/>
          <a:stretch>
            <a:fillRect/>
          </a:stretch>
        </p:blipFill>
        <p:spPr>
          <a:xfrm>
            <a:off x="-25090" y="6662926"/>
            <a:ext cx="752580" cy="17147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a:t>
            </a:r>
            <a:endParaRPr lang="en-IN" dirty="0"/>
          </a:p>
        </p:txBody>
      </p:sp>
      <p:pic>
        <p:nvPicPr>
          <p:cNvPr id="7" name="Picture 6">
            <a:extLst>
              <a:ext uri="{FF2B5EF4-FFF2-40B4-BE49-F238E27FC236}">
                <a16:creationId xmlns:a16="http://schemas.microsoft.com/office/drawing/2014/main" id="{8F40B2BC-57A1-3FE3-E497-43D18CCDE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9" y="1308935"/>
            <a:ext cx="10455442" cy="4811127"/>
          </a:xfrm>
          <a:prstGeom prst="rect">
            <a:avLst/>
          </a:prstGeom>
        </p:spPr>
      </p:pic>
      <p:pic>
        <p:nvPicPr>
          <p:cNvPr id="3" name="Picture 2">
            <a:extLst>
              <a:ext uri="{FF2B5EF4-FFF2-40B4-BE49-F238E27FC236}">
                <a16:creationId xmlns:a16="http://schemas.microsoft.com/office/drawing/2014/main" id="{2F638108-6555-454E-970E-DA0F117D2071}"/>
              </a:ext>
            </a:extLst>
          </p:cNvPr>
          <p:cNvPicPr>
            <a:picLocks noChangeAspect="1"/>
          </p:cNvPicPr>
          <p:nvPr/>
        </p:nvPicPr>
        <p:blipFill>
          <a:blip r:embed="rId3"/>
          <a:stretch>
            <a:fillRect/>
          </a:stretch>
        </p:blipFill>
        <p:spPr>
          <a:xfrm>
            <a:off x="64358" y="6652988"/>
            <a:ext cx="752580" cy="17147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 y="452893"/>
            <a:ext cx="12192000" cy="714892"/>
          </a:xfrm>
        </p:spPr>
        <p:txBody>
          <a:bodyPr/>
          <a:lstStyle/>
          <a:p>
            <a:r>
              <a:rPr lang="en-US" dirty="0"/>
              <a:t>Execution </a:t>
            </a:r>
            <a:endParaRPr lang="en-IN" dirty="0"/>
          </a:p>
        </p:txBody>
      </p:sp>
      <p:pic>
        <p:nvPicPr>
          <p:cNvPr id="3" name="Picture 2"/>
          <p:cNvPicPr>
            <a:picLocks noChangeAspect="1"/>
          </p:cNvPicPr>
          <p:nvPr/>
        </p:nvPicPr>
        <p:blipFill>
          <a:blip r:embed="rId2"/>
          <a:stretch>
            <a:fillRect/>
          </a:stretch>
        </p:blipFill>
        <p:spPr>
          <a:xfrm>
            <a:off x="457200" y="1143000"/>
            <a:ext cx="5562600" cy="5201653"/>
          </a:xfrm>
          <a:prstGeom prst="rect">
            <a:avLst/>
          </a:prstGeom>
        </p:spPr>
      </p:pic>
      <p:pic>
        <p:nvPicPr>
          <p:cNvPr id="4" name="Picture 3"/>
          <p:cNvPicPr>
            <a:picLocks noChangeAspect="1"/>
          </p:cNvPicPr>
          <p:nvPr/>
        </p:nvPicPr>
        <p:blipFill>
          <a:blip r:embed="rId3"/>
          <a:stretch>
            <a:fillRect/>
          </a:stretch>
        </p:blipFill>
        <p:spPr>
          <a:xfrm>
            <a:off x="6173400" y="1143000"/>
            <a:ext cx="5088158" cy="5018457"/>
          </a:xfrm>
          <a:prstGeom prst="rect">
            <a:avLst/>
          </a:prstGeom>
        </p:spPr>
      </p:pic>
      <p:pic>
        <p:nvPicPr>
          <p:cNvPr id="5" name="Picture 4">
            <a:extLst>
              <a:ext uri="{FF2B5EF4-FFF2-40B4-BE49-F238E27FC236}">
                <a16:creationId xmlns:a16="http://schemas.microsoft.com/office/drawing/2014/main" id="{968D7060-2080-4F15-8FC9-12C735A61728}"/>
              </a:ext>
            </a:extLst>
          </p:cNvPr>
          <p:cNvPicPr>
            <a:picLocks noChangeAspect="1"/>
          </p:cNvPicPr>
          <p:nvPr/>
        </p:nvPicPr>
        <p:blipFill>
          <a:blip r:embed="rId4"/>
          <a:stretch>
            <a:fillRect/>
          </a:stretch>
        </p:blipFill>
        <p:spPr>
          <a:xfrm>
            <a:off x="4721" y="6652989"/>
            <a:ext cx="752580" cy="17147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 Results Dashboard</a:t>
            </a:r>
            <a:endParaRPr lang="en-IN" dirty="0"/>
          </a:p>
        </p:txBody>
      </p:sp>
      <p:pic>
        <p:nvPicPr>
          <p:cNvPr id="6" name="Picture 5">
            <a:extLst>
              <a:ext uri="{FF2B5EF4-FFF2-40B4-BE49-F238E27FC236}">
                <a16:creationId xmlns:a16="http://schemas.microsoft.com/office/drawing/2014/main" id="{EA17FCFD-0B7A-4FC8-A87A-46A696F78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199" y="1194223"/>
            <a:ext cx="12192000" cy="4808220"/>
          </a:xfrm>
          <a:prstGeom prst="rect">
            <a:avLst/>
          </a:prstGeom>
        </p:spPr>
      </p:pic>
      <p:pic>
        <p:nvPicPr>
          <p:cNvPr id="3" name="Picture 2">
            <a:extLst>
              <a:ext uri="{FF2B5EF4-FFF2-40B4-BE49-F238E27FC236}">
                <a16:creationId xmlns:a16="http://schemas.microsoft.com/office/drawing/2014/main" id="{F907E48A-27E5-4BD4-AACB-F4044718613C}"/>
              </a:ext>
            </a:extLst>
          </p:cNvPr>
          <p:cNvPicPr>
            <a:picLocks noChangeAspect="1"/>
          </p:cNvPicPr>
          <p:nvPr/>
        </p:nvPicPr>
        <p:blipFill>
          <a:blip r:embed="rId3"/>
          <a:stretch>
            <a:fillRect/>
          </a:stretch>
        </p:blipFill>
        <p:spPr>
          <a:xfrm>
            <a:off x="4724" y="6662927"/>
            <a:ext cx="752580" cy="17147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Integrating plant visual cues with environmental parameters significantly enhances seasonal detection accuracy and robustness.</a:t>
            </a:r>
          </a:p>
          <a:p>
            <a:pPr marL="0" indent="0">
              <a:buNone/>
            </a:pPr>
            <a:r>
              <a:rPr lang="en-US" dirty="0"/>
              <a:t>The Fusion Hybrid Model delivers superior performance — 99.36% accuracy, 99.08% recall, 99.87% specificity, 99.91% sensitivity — validating multimodal feature fusion.</a:t>
            </a:r>
          </a:p>
          <a:p>
            <a:pPr marL="462280" indent="-462280">
              <a:buBlip>
                <a:blip r:embed="rId2">
                  <a:extLst>
                    <a:ext uri="{96DAC541-7B7A-43D3-8B79-37D633B846F1}">
                      <asvg:svgBlip xmlns:asvg="http://schemas.microsoft.com/office/drawing/2016/SVG/main" r:embed="rId3"/>
                    </a:ext>
                  </a:extLst>
                </a:blip>
              </a:buBlip>
            </a:pPr>
            <a:r>
              <a:rPr lang="en-US" dirty="0"/>
              <a:t>Multimodal learning captures both phenological patterns from imagery and contextual variations from environmental data, reducing ambiguity from visual similarities across adjacent seasons.</a:t>
            </a:r>
          </a:p>
          <a:p>
            <a:pPr marL="462280" indent="-462280">
              <a:buBlip>
                <a:blip r:embed="rId2">
                  <a:extLst>
                    <a:ext uri="{96DAC541-7B7A-43D3-8B79-37D633B846F1}">
                      <asvg:svgBlip xmlns:asvg="http://schemas.microsoft.com/office/drawing/2016/SVG/main" r:embed="rId3"/>
                    </a:ext>
                  </a:extLst>
                </a:blip>
              </a:buBlip>
            </a:pPr>
            <a:r>
              <a:rPr lang="en-US" dirty="0"/>
              <a:t>Flask deployment ensures practical usability: real-time seasonal prediction from user-uploaded images + environmental inputs, with secure SQLite authentication.</a:t>
            </a:r>
          </a:p>
          <a:p>
            <a:pPr marL="462280" indent="-462280">
              <a:buBlip>
                <a:blip r:embed="rId2">
                  <a:extLst>
                    <a:ext uri="{96DAC541-7B7A-43D3-8B79-37D633B846F1}">
                      <asvg:svgBlip xmlns:asvg="http://schemas.microsoft.com/office/drawing/2016/SVG/main" r:embed="rId3"/>
                    </a:ext>
                  </a:extLst>
                </a:blip>
              </a:buBlip>
            </a:pPr>
            <a:r>
              <a:rPr lang="en-US" dirty="0"/>
              <a:t>Establishes a scalable, accurate, deployable seasonal detection framework for precision agriculture, climate-adaptive planning, and automated decision-support systems.</a:t>
            </a:r>
          </a:p>
        </p:txBody>
      </p:sp>
      <p:pic>
        <p:nvPicPr>
          <p:cNvPr id="4" name="Picture 3">
            <a:extLst>
              <a:ext uri="{FF2B5EF4-FFF2-40B4-BE49-F238E27FC236}">
                <a16:creationId xmlns:a16="http://schemas.microsoft.com/office/drawing/2014/main" id="{A47F105A-2EED-40B4-8A25-8DB8B27AB9DE}"/>
              </a:ext>
            </a:extLst>
          </p:cNvPr>
          <p:cNvPicPr>
            <a:picLocks noChangeAspect="1"/>
          </p:cNvPicPr>
          <p:nvPr/>
        </p:nvPicPr>
        <p:blipFill>
          <a:blip r:embed="rId4"/>
          <a:stretch>
            <a:fillRect/>
          </a:stretch>
        </p:blipFill>
        <p:spPr>
          <a:xfrm>
            <a:off x="-5214" y="6662926"/>
            <a:ext cx="752580" cy="17147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endParaRPr lang="en-IN" dirty="0"/>
          </a:p>
        </p:txBody>
      </p:sp>
      <p:sp>
        <p:nvSpPr>
          <p:cNvPr id="3" name="Content Placeholder 2"/>
          <p:cNvSpPr>
            <a:spLocks noGrp="1"/>
          </p:cNvSpPr>
          <p:nvPr>
            <p:ph idx="1"/>
          </p:nvPr>
        </p:nvSpPr>
        <p:spPr/>
        <p:txBody>
          <a:bodyPr>
            <a:normAutofit fontScale="92500"/>
          </a:bodyPr>
          <a:lstStyle/>
          <a:p>
            <a:pPr marL="462280" indent="-462280">
              <a:buBlip>
                <a:blip r:embed="rId2">
                  <a:extLst>
                    <a:ext uri="{96DAC541-7B7A-43D3-8B79-37D633B846F1}">
                      <asvg:svgBlip xmlns:asvg="http://schemas.microsoft.com/office/drawing/2016/SVG/main" r:embed="rId3"/>
                    </a:ext>
                  </a:extLst>
                </a:blip>
              </a:buBlip>
            </a:pPr>
            <a:r>
              <a:rPr lang="en-US" dirty="0"/>
              <a:t>Incorporate multi-temporal plant imagery to model gradual phenological transitions across seasons for improved robustness.</a:t>
            </a:r>
          </a:p>
          <a:p>
            <a:pPr marL="462280" indent="-462280">
              <a:buBlip>
                <a:blip r:embed="rId2">
                  <a:extLst>
                    <a:ext uri="{96DAC541-7B7A-43D3-8B79-37D633B846F1}">
                      <asvg:svgBlip xmlns:asvg="http://schemas.microsoft.com/office/drawing/2016/SVG/main" r:embed="rId3"/>
                    </a:ext>
                  </a:extLst>
                </a:blip>
              </a:buBlip>
            </a:pPr>
            <a:r>
              <a:rPr lang="en-US" dirty="0"/>
              <a:t>Integrate additional environmental modalities — soil moisture indices, solar radiation, satellite-derived climate variables — for richer contextual understanding.</a:t>
            </a:r>
          </a:p>
          <a:p>
            <a:pPr marL="462280" indent="-462280">
              <a:buBlip>
                <a:blip r:embed="rId2">
                  <a:extLst>
                    <a:ext uri="{96DAC541-7B7A-43D3-8B79-37D633B846F1}">
                      <asvg:svgBlip xmlns:asvg="http://schemas.microsoft.com/office/drawing/2016/SVG/main" r:embed="rId3"/>
                    </a:ext>
                  </a:extLst>
                </a:blip>
              </a:buBlip>
            </a:pPr>
            <a:r>
              <a:rPr lang="en-US" dirty="0"/>
              <a:t>Explore self-supervised and contrastive learning strategies to reduce dependency on labeled seasonal data and improve geographic generalization.</a:t>
            </a:r>
          </a:p>
          <a:p>
            <a:pPr marL="462280" indent="-462280">
              <a:buBlip>
                <a:blip r:embed="rId2">
                  <a:extLst>
                    <a:ext uri="{96DAC541-7B7A-43D3-8B79-37D633B846F1}">
                      <asvg:svgBlip xmlns:asvg="http://schemas.microsoft.com/office/drawing/2016/SVG/main" r:embed="rId3"/>
                    </a:ext>
                  </a:extLst>
                </a:blip>
              </a:buBlip>
            </a:pPr>
            <a:r>
              <a:rPr lang="en-US" dirty="0"/>
              <a:t>Investigate attention-based fusion mechanisms to dynamically weight visual and environmental features under varying conditions.</a:t>
            </a:r>
          </a:p>
          <a:p>
            <a:pPr marL="462280" indent="-462280">
              <a:buBlip>
                <a:blip r:embed="rId2">
                  <a:extLst>
                    <a:ext uri="{96DAC541-7B7A-43D3-8B79-37D633B846F1}">
                      <asvg:svgBlip xmlns:asvg="http://schemas.microsoft.com/office/drawing/2016/SVG/main" r:embed="rId3"/>
                    </a:ext>
                  </a:extLst>
                </a:blip>
              </a:buBlip>
            </a:pPr>
            <a:r>
              <a:rPr lang="en-US" dirty="0"/>
              <a:t>Enable real-time data assimilation from IoT sensors for adaptive seasonal prediction under changing climates.</a:t>
            </a:r>
          </a:p>
          <a:p>
            <a:pPr marL="462280" indent="-462280">
              <a:buBlip>
                <a:blip r:embed="rId2">
                  <a:extLst>
                    <a:ext uri="{96DAC541-7B7A-43D3-8B79-37D633B846F1}">
                      <asvg:svgBlip xmlns:asvg="http://schemas.microsoft.com/office/drawing/2016/SVG/main" r:embed="rId3"/>
                    </a:ext>
                  </a:extLst>
                </a:blip>
              </a:buBlip>
            </a:pPr>
            <a:r>
              <a:rPr lang="en-US" dirty="0"/>
              <a:t>Extend framework to fine-grained seasonal stages and crop-specific phenology analysis for advanced precision agriculture and long-term ecological forecasting.</a:t>
            </a:r>
          </a:p>
        </p:txBody>
      </p:sp>
      <p:pic>
        <p:nvPicPr>
          <p:cNvPr id="4" name="Picture 3">
            <a:extLst>
              <a:ext uri="{FF2B5EF4-FFF2-40B4-BE49-F238E27FC236}">
                <a16:creationId xmlns:a16="http://schemas.microsoft.com/office/drawing/2014/main" id="{AD8110C2-A719-417D-B988-A92D21A893BE}"/>
              </a:ext>
            </a:extLst>
          </p:cNvPr>
          <p:cNvPicPr>
            <a:picLocks noChangeAspect="1"/>
          </p:cNvPicPr>
          <p:nvPr/>
        </p:nvPicPr>
        <p:blipFill>
          <a:blip r:embed="rId4"/>
          <a:stretch>
            <a:fillRect/>
          </a:stretch>
        </p:blipFill>
        <p:spPr>
          <a:xfrm>
            <a:off x="-5215" y="6662928"/>
            <a:ext cx="752580" cy="17147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[1] Singh, K.S. and Gupta, R., "Season Classification Using Plant Leaf Images and CNN Models," Int. J. Computer Vision Research, vol. 14, no. 3, pp. 112-120, 2021.</a:t>
            </a:r>
          </a:p>
          <a:p>
            <a:pPr marL="0" indent="0">
              <a:buNone/>
            </a:pPr>
            <a:r>
              <a:rPr lang="en-US" dirty="0"/>
              <a:t>[2] Zhou, M., Li, Y. and Chen, X., "Environmental Feature-Based Season Detection Using ML," IEEE Access, vol. 9, pp. 78532-78545, 2021.</a:t>
            </a:r>
          </a:p>
          <a:p>
            <a:pPr marL="0" indent="0">
              <a:buNone/>
            </a:pPr>
            <a:r>
              <a:rPr lang="en-US" dirty="0"/>
              <a:t>[3] Das, A. and Sen, N., "Plant Phenology Detection Using Computer Vision," Proc. ICSCV, pp. 233-240, 2020.</a:t>
            </a:r>
          </a:p>
          <a:p>
            <a:pPr marL="0" indent="0">
              <a:buNone/>
            </a:pPr>
            <a:r>
              <a:rPr lang="en-US" dirty="0"/>
              <a:t>[4] Rai, P. and Kaur, S., "Deep Learning for Weather and Seasonal Pattern Prediction," J. Intelligent Systems, vol. 5, no. 2, pp. 54-63, 2022.</a:t>
            </a:r>
          </a:p>
          <a:p>
            <a:pPr marL="0" indent="0">
              <a:buNone/>
            </a:pPr>
            <a:r>
              <a:rPr lang="en-US" dirty="0"/>
              <a:t>[5] Ji, X. et al., "Ecological monitoring of invasive species through deep learning-based object detection," Ecological Indicators, 175, 113572, 2025.</a:t>
            </a:r>
          </a:p>
          <a:p>
            <a:pPr marL="0" indent="0">
              <a:buNone/>
            </a:pPr>
            <a:r>
              <a:rPr lang="en-US" dirty="0"/>
              <a:t>[6] Oumaima, S. et al., "EnviScan+: AI-driven plant identification for sustainable agriculture," SoftwareX, 30, 102182, 2025.</a:t>
            </a:r>
          </a:p>
        </p:txBody>
      </p:sp>
      <p:pic>
        <p:nvPicPr>
          <p:cNvPr id="4" name="Picture 3">
            <a:extLst>
              <a:ext uri="{FF2B5EF4-FFF2-40B4-BE49-F238E27FC236}">
                <a16:creationId xmlns:a16="http://schemas.microsoft.com/office/drawing/2014/main" id="{7F98BFD8-013E-4CE0-8CA4-235D035E234B}"/>
              </a:ext>
            </a:extLst>
          </p:cNvPr>
          <p:cNvPicPr>
            <a:picLocks noChangeAspect="1"/>
          </p:cNvPicPr>
          <p:nvPr/>
        </p:nvPicPr>
        <p:blipFill>
          <a:blip r:embed="rId2"/>
          <a:stretch>
            <a:fillRect/>
          </a:stretch>
        </p:blipFill>
        <p:spPr>
          <a:xfrm>
            <a:off x="-25091" y="6662926"/>
            <a:ext cx="752580" cy="17147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 Link</a:t>
            </a:r>
            <a:endParaRPr lang="en-IN" dirty="0"/>
          </a:p>
        </p:txBody>
      </p:sp>
      <p:sp>
        <p:nvSpPr>
          <p:cNvPr id="3" name="Content Placeholder 2"/>
          <p:cNvSpPr>
            <a:spLocks noGrp="1"/>
          </p:cNvSpPr>
          <p:nvPr>
            <p:ph idx="1"/>
          </p:nvPr>
        </p:nvSpPr>
        <p:spPr/>
        <p:txBody>
          <a:bodyPr>
            <a:normAutofit/>
          </a:bodyPr>
          <a:lstStyle/>
          <a:p>
            <a:pPr marL="0" indent="0">
              <a:buNone/>
            </a:pPr>
            <a:r>
              <a:rPr lang="en-US" dirty="0"/>
              <a:t>Project Repository:</a:t>
            </a:r>
          </a:p>
          <a:p>
            <a:pPr marL="0" indent="0">
              <a:buNone/>
            </a:pPr>
            <a:r>
              <a:rPr lang="en-US" dirty="0"/>
              <a:t>https://github.com/Sharath599/Batch-B02-2025-2026</a:t>
            </a:r>
          </a:p>
          <a:p>
            <a:pPr marL="0" indent="0">
              <a:buNone/>
            </a:pPr>
            <a:endParaRPr lang="en-US" dirty="0"/>
          </a:p>
          <a:p>
            <a:pPr marL="0" indent="0">
              <a:buNone/>
            </a:pPr>
            <a:r>
              <a:rPr lang="en-US" dirty="0"/>
              <a:t>Team Members:</a:t>
            </a:r>
          </a:p>
          <a:p>
            <a:pPr marL="462280" indent="-462280">
              <a:buBlip>
                <a:blip r:embed="rId2">
                  <a:extLst>
                    <a:ext uri="{96DAC541-7B7A-43D3-8B79-37D633B846F1}">
                      <asvg:svgBlip xmlns:asvg="http://schemas.microsoft.com/office/drawing/2016/SVG/main" r:embed="rId3"/>
                    </a:ext>
                  </a:extLst>
                </a:blip>
              </a:buBlip>
            </a:pPr>
            <a:r>
              <a:rPr lang="en-US" dirty="0"/>
              <a:t>Sharath V           (224G1A0599) — GitHub: Sharath599</a:t>
            </a:r>
          </a:p>
          <a:p>
            <a:pPr marL="462280" indent="-462280">
              <a:buBlip>
                <a:blip r:embed="rId2">
                  <a:extLst>
                    <a:ext uri="{96DAC541-7B7A-43D3-8B79-37D633B846F1}">
                      <asvg:svgBlip xmlns:asvg="http://schemas.microsoft.com/office/drawing/2016/SVG/main" r:embed="rId3"/>
                    </a:ext>
                  </a:extLst>
                </a:blip>
              </a:buBlip>
            </a:pPr>
            <a:r>
              <a:rPr lang="en-US" dirty="0"/>
              <a:t>Sharath Kumar M     (224G1A0598)</a:t>
            </a:r>
          </a:p>
          <a:p>
            <a:pPr marL="462280" indent="-462280">
              <a:buBlip>
                <a:blip r:embed="rId2">
                  <a:extLst>
                    <a:ext uri="{96DAC541-7B7A-43D3-8B79-37D633B846F1}">
                      <asvg:svgBlip xmlns:asvg="http://schemas.microsoft.com/office/drawing/2016/SVG/main" r:embed="rId3"/>
                    </a:ext>
                  </a:extLst>
                </a:blip>
              </a:buBlip>
            </a:pPr>
            <a:r>
              <a:rPr lang="en-US" dirty="0"/>
              <a:t>Maneedeep M         (234G5A0505)</a:t>
            </a:r>
          </a:p>
        </p:txBody>
      </p:sp>
      <p:pic>
        <p:nvPicPr>
          <p:cNvPr id="4" name="Picture 3">
            <a:extLst>
              <a:ext uri="{FF2B5EF4-FFF2-40B4-BE49-F238E27FC236}">
                <a16:creationId xmlns:a16="http://schemas.microsoft.com/office/drawing/2014/main" id="{7CB6FFE4-5B74-4C19-8CBF-78D6BBC9B322}"/>
              </a:ext>
            </a:extLst>
          </p:cNvPr>
          <p:cNvPicPr>
            <a:picLocks noChangeAspect="1"/>
          </p:cNvPicPr>
          <p:nvPr/>
        </p:nvPicPr>
        <p:blipFill>
          <a:blip r:embed="rId4"/>
          <a:stretch>
            <a:fillRect/>
          </a:stretch>
        </p:blipFill>
        <p:spPr>
          <a:xfrm>
            <a:off x="34541" y="6662927"/>
            <a:ext cx="752580" cy="17147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0785CC95-7B19-4B54-B356-92FD2724AC19}"/>
              </a:ext>
            </a:extLst>
          </p:cNvPr>
          <p:cNvPicPr>
            <a:picLocks noChangeAspect="1"/>
          </p:cNvPicPr>
          <p:nvPr/>
        </p:nvPicPr>
        <p:blipFill>
          <a:blip r:embed="rId2"/>
          <a:stretch>
            <a:fillRect/>
          </a:stretch>
        </p:blipFill>
        <p:spPr>
          <a:xfrm>
            <a:off x="14662" y="6662929"/>
            <a:ext cx="752580" cy="17147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099747"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Query?</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42A76E4-7C47-4048-AF50-89C06F63506F}"/>
              </a:ext>
            </a:extLst>
          </p:cNvPr>
          <p:cNvPicPr>
            <a:picLocks noChangeAspect="1"/>
          </p:cNvPicPr>
          <p:nvPr/>
        </p:nvPicPr>
        <p:blipFill>
          <a:blip r:embed="rId2"/>
          <a:stretch>
            <a:fillRect/>
          </a:stretch>
        </p:blipFill>
        <p:spPr>
          <a:xfrm>
            <a:off x="4725" y="6662925"/>
            <a:ext cx="752580" cy="171474"/>
          </a:xfrm>
          <a:prstGeom prst="rect">
            <a:avLst/>
          </a:prstGeom>
        </p:spPr>
      </p:pic>
    </p:spTree>
    <p:extLst>
      <p:ext uri="{BB962C8B-B14F-4D97-AF65-F5344CB8AC3E}">
        <p14:creationId xmlns:p14="http://schemas.microsoft.com/office/powerpoint/2010/main" val="367345171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8854</TotalTime>
  <Words>2607</Words>
  <Application>Microsoft Office PowerPoint</Application>
  <PresentationFormat>Widescreen</PresentationFormat>
  <Paragraphs>235</Paragraphs>
  <Slides>43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Courier New</vt:lpstr>
      <vt:lpstr>Times New Roman</vt:lpstr>
      <vt:lpstr>Wingdings</vt:lpstr>
      <vt:lpstr>Custom Design</vt:lpstr>
      <vt:lpstr>PowerPoint Presentation</vt:lpstr>
      <vt:lpstr>Comments</vt:lpstr>
      <vt:lpstr>Contents</vt:lpstr>
      <vt:lpstr>Abstract</vt:lpstr>
      <vt:lpstr>Introduction</vt:lpstr>
      <vt:lpstr>Literature Survey</vt:lpstr>
      <vt:lpstr>Existing System</vt:lpstr>
      <vt:lpstr>Research Gap</vt:lpstr>
      <vt:lpstr>Proposed System</vt:lpstr>
      <vt:lpstr>Extension &amp; Novelty</vt:lpstr>
      <vt:lpstr>Planning-Objectives of Project</vt:lpstr>
      <vt:lpstr>Planning-Requirements</vt:lpstr>
      <vt:lpstr>Planning-System Requiremnts and Workflow</vt:lpstr>
      <vt:lpstr>Design of the project</vt:lpstr>
      <vt:lpstr>Design-System Architecture</vt:lpstr>
      <vt:lpstr>Design-Data Flow Diagram</vt:lpstr>
      <vt:lpstr>Use Case Diagram</vt:lpstr>
      <vt:lpstr>Class Diagram</vt:lpstr>
      <vt:lpstr>Activity Diagram</vt:lpstr>
      <vt:lpstr>Sequence Diagram</vt:lpstr>
      <vt:lpstr>Collaboration Diagram</vt:lpstr>
      <vt:lpstr>Component Diagram</vt:lpstr>
      <vt:lpstr>Deployment Diagram</vt:lpstr>
      <vt:lpstr>Implementation</vt:lpstr>
      <vt:lpstr>Implementation — Flow of work (Part 1)</vt:lpstr>
      <vt:lpstr>Implementation —Flow of work (Part 2)</vt:lpstr>
      <vt:lpstr>Implementation-Algorithms Used</vt:lpstr>
      <vt:lpstr>Performance Evaluation</vt:lpstr>
      <vt:lpstr>Performance Comparison Graph</vt:lpstr>
      <vt:lpstr>Research Paper Overview</vt:lpstr>
      <vt:lpstr>Research Paper Contribution</vt:lpstr>
      <vt:lpstr>Research paper Document</vt:lpstr>
      <vt:lpstr>Execution </vt:lpstr>
      <vt:lpstr>Execution </vt:lpstr>
      <vt:lpstr>Execution </vt:lpstr>
      <vt:lpstr>Execution </vt:lpstr>
      <vt:lpstr>Execution - Results Dashboard</vt:lpstr>
      <vt:lpstr>Conclusion</vt:lpstr>
      <vt:lpstr>Future Scope</vt:lpstr>
      <vt:lpstr>References</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sharath vadde</dc:creator>
  <cp:lastModifiedBy>sharath vadde</cp:lastModifiedBy>
  <cp:revision>178</cp:revision>
  <dcterms:created xsi:type="dcterms:W3CDTF">2019-06-11T05:35:00Z</dcterms:created>
  <dcterms:modified xsi:type="dcterms:W3CDTF">2026-03-08T02:26:04Z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