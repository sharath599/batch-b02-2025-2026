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21"/>
  </p:notesMasterIdLst>
  <p:sldIdLst>
    <p:sldId id="256" r:id="rId2"/>
    <p:sldId id="257" r:id="rId3"/>
    <p:sldId id="258" r:id="rId4"/>
    <p:sldId id="259" r:id="rId5"/>
    <p:sldId id="260" r:id="rId6"/>
    <p:sldId id="264" r:id="rId7"/>
    <p:sldId id="265" r:id="rId8"/>
    <p:sldId id="266" r:id="rId9"/>
    <p:sldId id="274" r:id="rId10"/>
    <p:sldId id="275" r:id="rId11"/>
    <p:sldId id="276" r:id="rId12"/>
    <p:sldId id="277" r:id="rId13"/>
    <p:sldId id="278" r:id="rId14"/>
    <p:sldId id="279" r:id="rId15"/>
    <p:sldId id="267" r:id="rId16"/>
    <p:sldId id="268" r:id="rId17"/>
    <p:sldId id="271" r:id="rId18"/>
    <p:sldId id="270" r:id="rId19"/>
    <p:sldId id="273"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60" userDrawn="1">
          <p15:clr>
            <a:srgbClr val="A4A3A4"/>
          </p15:clr>
        </p15:guide>
        <p15:guide id="2" pos="383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8F0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60" d="100"/>
          <a:sy n="60" d="100"/>
        </p:scale>
        <p:origin x="816" y="52"/>
      </p:cViewPr>
      <p:guideLst>
        <p:guide orient="horz" pos="2160"/>
        <p:guide pos="383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t>‹#›</a:t>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
        <p:cNvGrpSpPr/>
        <p:nvPr/>
      </p:nvGrpSpPr>
      <p:grpSpPr>
        <a:xfrm>
          <a:off x="0" y="0"/>
          <a:ext cx="0" cy="0"/>
          <a:chOff x="0" y="0"/>
          <a:chExt cx="0" cy="0"/>
        </a:xfrm>
      </p:grpSpPr>
      <p:sp>
        <p:nvSpPr>
          <p:cNvPr id="27" name="Google Shape;27;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 name="Google Shape;2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 name="Google Shape;4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 name="Google Shape;4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 name="Google Shape;4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1"/>
        <p:cNvGrpSpPr/>
        <p:nvPr/>
      </p:nvGrpSpPr>
      <p:grpSpPr>
        <a:xfrm>
          <a:off x="0" y="0"/>
          <a:ext cx="0" cy="0"/>
          <a:chOff x="0" y="0"/>
          <a:chExt cx="0" cy="0"/>
        </a:xfrm>
      </p:grpSpPr>
      <p:sp>
        <p:nvSpPr>
          <p:cNvPr id="12" name="Google Shape;12;p2"/>
          <p:cNvSpPr txBox="1"/>
          <p:nvPr/>
        </p:nvSpPr>
        <p:spPr>
          <a:xfrm>
            <a:off x="777239" y="6634573"/>
            <a:ext cx="5781822" cy="220979"/>
          </a:xfrm>
          <a:prstGeom prst="rect">
            <a:avLst/>
          </a:prstGeom>
          <a:solidFill>
            <a:srgbClr val="00206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small">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 name="Google Shape;13;p2"/>
          <p:cNvSpPr txBox="1"/>
          <p:nvPr/>
        </p:nvSpPr>
        <p:spPr>
          <a:xfrm>
            <a:off x="6559062" y="6634573"/>
            <a:ext cx="5195133" cy="220979"/>
          </a:xfrm>
          <a:prstGeom prst="rect">
            <a:avLst/>
          </a:prstGeom>
          <a:solidFill>
            <a:srgbClr val="00808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small">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 name="Google Shape;14;p2"/>
          <p:cNvSpPr txBox="1"/>
          <p:nvPr/>
        </p:nvSpPr>
        <p:spPr>
          <a:xfrm>
            <a:off x="11754196" y="6637020"/>
            <a:ext cx="437803" cy="22097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1" i="0" u="none" strike="noStrike" cap="none">
              <a:solidFill>
                <a:srgbClr val="00206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 name="Google Shape;15;p2"/>
          <p:cNvSpPr txBox="1"/>
          <p:nvPr/>
        </p:nvSpPr>
        <p:spPr>
          <a:xfrm>
            <a:off x="-1" y="-1"/>
            <a:ext cx="12191999" cy="232759"/>
          </a:xfrm>
          <a:prstGeom prst="rect">
            <a:avLst/>
          </a:prstGeom>
          <a:solidFill>
            <a:srgbClr val="0066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500" b="1" i="1"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6" name="Google Shape;16;p2"/>
          <p:cNvSpPr txBox="1"/>
          <p:nvPr/>
        </p:nvSpPr>
        <p:spPr>
          <a:xfrm>
            <a:off x="0" y="6634573"/>
            <a:ext cx="777239" cy="221522"/>
          </a:xfrm>
          <a:prstGeom prst="rect">
            <a:avLst/>
          </a:prstGeom>
          <a:solidFill>
            <a:srgbClr val="C55A1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small">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2" y="232759"/>
            <a:ext cx="12192000" cy="714892"/>
          </a:xfrm>
          <a:prstGeom prst="rect">
            <a:avLst/>
          </a:prstGeom>
          <a:solidFill>
            <a:srgbClr val="FF6600"/>
          </a:solidFill>
          <a:ln>
            <a:noFill/>
          </a:ln>
          <a:effectLst>
            <a:outerShdw blurRad="44450" dist="27940" dir="5400000" algn="ctr">
              <a:srgbClr val="000000">
                <a:alpha val="31764"/>
              </a:srgbClr>
            </a:outerShdw>
          </a:effectLst>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4400"/>
              <a:buFont typeface="Times New Roman" panose="02020603050405020304"/>
              <a:buNone/>
              <a:defRPr sz="4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9" name="Google Shape;19;p3"/>
          <p:cNvSpPr txBox="1">
            <a:spLocks noGrp="1"/>
          </p:cNvSpPr>
          <p:nvPr>
            <p:ph type="body" idx="1"/>
          </p:nvPr>
        </p:nvSpPr>
        <p:spPr>
          <a:xfrm>
            <a:off x="199505" y="1097279"/>
            <a:ext cx="11779135" cy="5394960"/>
          </a:xfrm>
          <a:prstGeom prst="rect">
            <a:avLst/>
          </a:prstGeom>
          <a:noFill/>
          <a:ln>
            <a:noFill/>
          </a:ln>
        </p:spPr>
        <p:txBody>
          <a:bodyPr spcFirstLastPara="1" wrap="square" lIns="91425" tIns="45700" rIns="91425" bIns="45700" anchor="t" anchorCtr="0">
            <a:normAutofit/>
          </a:bodyPr>
          <a:lstStyle>
            <a:lvl1pPr marL="457200" lvl="0" indent="-406400" algn="just">
              <a:lnSpc>
                <a:spcPct val="90000"/>
              </a:lnSpc>
              <a:spcBef>
                <a:spcPts val="1000"/>
              </a:spcBef>
              <a:spcAft>
                <a:spcPts val="0"/>
              </a:spcAft>
              <a:buClr>
                <a:schemeClr val="dk1"/>
              </a:buClr>
              <a:buSzPts val="2800"/>
              <a:buFont typeface="Noto Sans Symbols"/>
              <a:buChar char="⮚"/>
              <a:defRPr/>
            </a:lvl1pPr>
            <a:lvl2pPr marL="914400" lvl="1" indent="-381000" algn="just">
              <a:lnSpc>
                <a:spcPct val="90000"/>
              </a:lnSpc>
              <a:spcBef>
                <a:spcPts val="500"/>
              </a:spcBef>
              <a:spcAft>
                <a:spcPts val="0"/>
              </a:spcAft>
              <a:buClr>
                <a:schemeClr val="dk1"/>
              </a:buClr>
              <a:buSzPts val="2400"/>
              <a:buFont typeface="Noto Sans Symbols"/>
              <a:buChar char="❑"/>
              <a:defRPr/>
            </a:lvl2pPr>
            <a:lvl3pPr marL="1371600" lvl="2" indent="-355600" algn="just">
              <a:lnSpc>
                <a:spcPct val="90000"/>
              </a:lnSpc>
              <a:spcBef>
                <a:spcPts val="500"/>
              </a:spcBef>
              <a:spcAft>
                <a:spcPts val="0"/>
              </a:spcAft>
              <a:buClr>
                <a:schemeClr val="dk1"/>
              </a:buClr>
              <a:buSzPts val="2000"/>
              <a:buFont typeface="Courier New" panose="02070309020205020404"/>
              <a:buChar char="o"/>
              <a:defRPr/>
            </a:lvl3pPr>
            <a:lvl4pPr marL="1828800" lvl="3" indent="-342900" algn="just">
              <a:lnSpc>
                <a:spcPct val="90000"/>
              </a:lnSpc>
              <a:spcBef>
                <a:spcPts val="500"/>
              </a:spcBef>
              <a:spcAft>
                <a:spcPts val="0"/>
              </a:spcAft>
              <a:buClr>
                <a:schemeClr val="dk1"/>
              </a:buClr>
              <a:buSzPts val="1800"/>
              <a:buFont typeface="Noto Sans Symbols"/>
              <a:buChar char="▪"/>
              <a:defRPr/>
            </a:lvl4pPr>
            <a:lvl5pPr marL="2286000" lvl="4" indent="-342900" algn="just">
              <a:lnSpc>
                <a:spcPct val="90000"/>
              </a:lnSpc>
              <a:spcBef>
                <a:spcPts val="500"/>
              </a:spcBef>
              <a:spcAft>
                <a:spcPts val="0"/>
              </a:spcAft>
              <a:buClr>
                <a:schemeClr val="dk1"/>
              </a:buClr>
              <a:buSzPts val="1800"/>
              <a:buFont typeface="Arial" panose="020B0604020202020204"/>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3"/>
          <p:cNvSpPr txBox="1"/>
          <p:nvPr/>
        </p:nvSpPr>
        <p:spPr>
          <a:xfrm>
            <a:off x="777239" y="6642828"/>
            <a:ext cx="5654039" cy="215172"/>
          </a:xfrm>
          <a:prstGeom prst="rect">
            <a:avLst/>
          </a:prstGeom>
          <a:solidFill>
            <a:srgbClr val="00206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0" i="0" u="none" strike="noStrike" cap="small">
                <a:solidFill>
                  <a:schemeClr val="lt1"/>
                </a:solidFill>
                <a:latin typeface="Times New Roman" panose="02020603050405020304"/>
                <a:ea typeface="Times New Roman" panose="02020603050405020304"/>
                <a:cs typeface="Times New Roman" panose="02020603050405020304"/>
                <a:sym typeface="Times New Roman" panose="02020603050405020304"/>
              </a:rPr>
              <a:t>Dept. of Computer Science and Engineering</a:t>
            </a:r>
            <a:endParaRPr sz="1600" b="0" i="0" u="none" strike="noStrike" cap="small">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 name="Google Shape;21;p3"/>
          <p:cNvSpPr txBox="1"/>
          <p:nvPr/>
        </p:nvSpPr>
        <p:spPr>
          <a:xfrm>
            <a:off x="6431278" y="6641866"/>
            <a:ext cx="5322917" cy="216133"/>
          </a:xfrm>
          <a:prstGeom prst="rect">
            <a:avLst/>
          </a:prstGeom>
          <a:solidFill>
            <a:srgbClr val="00808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0" i="0" u="none" strike="noStrike" cap="small">
                <a:solidFill>
                  <a:schemeClr val="lt1"/>
                </a:solidFill>
                <a:latin typeface="Times New Roman" panose="02020603050405020304"/>
                <a:ea typeface="Times New Roman" panose="02020603050405020304"/>
                <a:cs typeface="Times New Roman" panose="02020603050405020304"/>
                <a:sym typeface="Times New Roman" panose="02020603050405020304"/>
              </a:rPr>
              <a:t>Srinivasa Ramanujan Institute of Technology</a:t>
            </a:r>
            <a:endParaRPr sz="1600" b="0" i="0" u="none" strike="noStrike" cap="small">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 name="Google Shape;22;p3"/>
          <p:cNvSpPr txBox="1"/>
          <p:nvPr/>
        </p:nvSpPr>
        <p:spPr>
          <a:xfrm>
            <a:off x="11754196" y="6641865"/>
            <a:ext cx="437803" cy="216133"/>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600" b="1" i="0" u="none" strike="noStrike" cap="none">
                <a:solidFill>
                  <a:srgbClr val="002060"/>
                </a:solidFill>
                <a:latin typeface="Times New Roman" panose="02020603050405020304"/>
                <a:ea typeface="Times New Roman" panose="02020603050405020304"/>
                <a:cs typeface="Times New Roman" panose="02020603050405020304"/>
                <a:sym typeface="Times New Roman" panose="02020603050405020304"/>
              </a:rPr>
              <a:t>‹#›</a:t>
            </a:fld>
            <a:endParaRPr sz="1600" b="1" i="0" u="none" strike="noStrike" cap="none">
              <a:solidFill>
                <a:srgbClr val="00206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3" name="Google Shape;23;p3"/>
          <p:cNvSpPr txBox="1"/>
          <p:nvPr/>
        </p:nvSpPr>
        <p:spPr>
          <a:xfrm>
            <a:off x="-1" y="0"/>
            <a:ext cx="12191999" cy="232759"/>
          </a:xfrm>
          <a:prstGeom prst="rect">
            <a:avLst/>
          </a:prstGeom>
          <a:solidFill>
            <a:srgbClr val="0066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500" b="1" i="1"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Title</a:t>
            </a:r>
            <a:endParaRPr sz="1500" b="1" i="1"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24" name="Google Shape;24;p3"/>
          <p:cNvPicPr preferRelativeResize="0"/>
          <p:nvPr/>
        </p:nvPicPr>
        <p:blipFill rotWithShape="1">
          <a:blip r:embed="rId2"/>
          <a:srcRect/>
          <a:stretch>
            <a:fillRect/>
          </a:stretch>
        </p:blipFill>
        <p:spPr>
          <a:xfrm>
            <a:off x="11506200" y="5956065"/>
            <a:ext cx="685800" cy="685800"/>
          </a:xfrm>
          <a:prstGeom prst="rect">
            <a:avLst/>
          </a:prstGeom>
          <a:noFill/>
          <a:ln>
            <a:noFill/>
          </a:ln>
        </p:spPr>
      </p:pic>
      <p:sp>
        <p:nvSpPr>
          <p:cNvPr id="25" name="Google Shape;25;p3"/>
          <p:cNvSpPr txBox="1"/>
          <p:nvPr/>
        </p:nvSpPr>
        <p:spPr>
          <a:xfrm>
            <a:off x="0" y="6642735"/>
            <a:ext cx="1159510" cy="215265"/>
          </a:xfrm>
          <a:prstGeom prst="rect">
            <a:avLst/>
          </a:prstGeom>
          <a:solidFill>
            <a:srgbClr val="C55A1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0" i="0" u="none" strike="noStrike" cap="small">
                <a:solidFill>
                  <a:schemeClr val="lt1"/>
                </a:solidFill>
                <a:latin typeface="Times New Roman" panose="02020603050405020304"/>
                <a:ea typeface="Times New Roman" panose="02020603050405020304"/>
                <a:cs typeface="Times New Roman" panose="02020603050405020304"/>
                <a:sym typeface="Times New Roman" panose="02020603050405020304"/>
              </a:rPr>
              <a:t> BAtch no</a:t>
            </a:r>
            <a:endParaRPr sz="1600" b="0" i="0" u="none" strike="noStrike" cap="small">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just" rtl="0">
              <a:lnSpc>
                <a:spcPct val="90000"/>
              </a:lnSpc>
              <a:spcBef>
                <a:spcPts val="1000"/>
              </a:spcBef>
              <a:spcAft>
                <a:spcPts val="0"/>
              </a:spcAft>
              <a:buClr>
                <a:schemeClr val="dk1"/>
              </a:buClr>
              <a:buSzPts val="2800"/>
              <a:buFont typeface="Noto Sans Symbols"/>
              <a:buChar char="❑"/>
              <a:defRPr sz="2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L="914400" marR="0" lvl="1" indent="-381000" algn="just" rtl="0">
              <a:lnSpc>
                <a:spcPct val="90000"/>
              </a:lnSpc>
              <a:spcBef>
                <a:spcPts val="500"/>
              </a:spcBef>
              <a:spcAft>
                <a:spcPts val="0"/>
              </a:spcAft>
              <a:buClr>
                <a:schemeClr val="dk1"/>
              </a:buClr>
              <a:buSzPts val="2400"/>
              <a:buFont typeface="Noto Sans Symbols"/>
              <a:buChar char="⮚"/>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L="1371600" marR="0" lvl="2" indent="-355600" algn="just" rtl="0">
              <a:lnSpc>
                <a:spcPct val="90000"/>
              </a:lnSpc>
              <a:spcBef>
                <a:spcPts val="500"/>
              </a:spcBef>
              <a:spcAft>
                <a:spcPts val="0"/>
              </a:spcAft>
              <a:buClr>
                <a:schemeClr val="dk1"/>
              </a:buClr>
              <a:buSzPts val="2000"/>
              <a:buFont typeface="Courier New" panose="02070309020205020404"/>
              <a:buChar char="o"/>
              <a:defRPr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L="1828800" marR="0" lvl="3" indent="-342900" algn="just" rtl="0">
              <a:lnSpc>
                <a:spcPct val="90000"/>
              </a:lnSpc>
              <a:spcBef>
                <a:spcPts val="500"/>
              </a:spcBef>
              <a:spcAft>
                <a:spcPts val="0"/>
              </a:spcAft>
              <a:buClr>
                <a:schemeClr val="dk1"/>
              </a:buClr>
              <a:buSzPts val="1800"/>
              <a:buFont typeface="Noto Sans Symbols"/>
              <a:buChar char="▪"/>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L="2286000" marR="0" lvl="4" indent="-342900" algn="just"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6.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9"/>
        <p:cNvGrpSpPr/>
        <p:nvPr/>
      </p:nvGrpSpPr>
      <p:grpSpPr>
        <a:xfrm>
          <a:off x="0" y="0"/>
          <a:ext cx="0" cy="0"/>
          <a:chOff x="0" y="0"/>
          <a:chExt cx="0" cy="0"/>
        </a:xfrm>
      </p:grpSpPr>
      <p:sp>
        <p:nvSpPr>
          <p:cNvPr id="4" name="Subtitle 11"/>
          <p:cNvSpPr txBox="1"/>
          <p:nvPr/>
        </p:nvSpPr>
        <p:spPr>
          <a:xfrm>
            <a:off x="7368364" y="1783000"/>
            <a:ext cx="3551274" cy="58453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ctr" defTabSz="914400" rtl="0" eaLnBrk="1" fontAlgn="base" latinLnBrk="0" hangingPunct="1">
              <a:lnSpc>
                <a:spcPts val="2075"/>
              </a:lnSpc>
              <a:spcBef>
                <a:spcPts val="100"/>
              </a:spcBef>
              <a:spcAft>
                <a:spcPct val="0"/>
              </a:spcAft>
              <a:buClrTx/>
              <a:buSzTx/>
              <a:buFontTx/>
              <a:buNone/>
              <a:tabLst/>
              <a:defRPr/>
            </a:pPr>
            <a:r>
              <a:rPr kumimoji="0" lang="en-US" sz="17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Maneedeep M</a:t>
            </a:r>
            <a:endParaRPr kumimoji="0" lang="en-US" altLang="zh-CN" sz="17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ts val="1065"/>
              </a:lnSpc>
              <a:spcBef>
                <a:spcPct val="0"/>
              </a:spcBef>
              <a:spcAft>
                <a:spcPct val="0"/>
              </a:spcAft>
              <a:buClrTx/>
              <a:buSzTx/>
              <a:buFontTx/>
              <a:buNone/>
              <a:tabLst/>
              <a:defRPr/>
            </a:pPr>
            <a:r>
              <a:rPr kumimoji="0" lang="en-US" altLang="zh-CN" sz="9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Roll No. </a:t>
            </a:r>
            <a:r>
              <a:rPr kumimoji="0" lang="en-US" sz="9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234G5A0505</a:t>
            </a:r>
            <a:endParaRPr kumimoji="0" lang="en-US" altLang="zh-CN" sz="900" b="0" i="0" u="none" strike="noStrike" kern="120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mn-cs"/>
            </a:endParaRPr>
          </a:p>
        </p:txBody>
      </p:sp>
      <p:sp>
        <p:nvSpPr>
          <p:cNvPr id="2" name="Subtitle 11"/>
          <p:cNvSpPr txBox="1"/>
          <p:nvPr/>
        </p:nvSpPr>
        <p:spPr>
          <a:xfrm>
            <a:off x="3759654" y="2475580"/>
            <a:ext cx="4672674" cy="89804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ts val="1625"/>
              </a:lnSpc>
              <a:spcBef>
                <a:spcPts val="100"/>
              </a:spcBef>
            </a:pPr>
            <a:r>
              <a:rPr lang="en-US" altLang="en-US" sz="1600" b="0" dirty="0">
                <a:solidFill>
                  <a:srgbClr val="000000"/>
                </a:solidFill>
              </a:rPr>
              <a:t>Under the guidance of</a:t>
            </a:r>
          </a:p>
          <a:p>
            <a:pPr>
              <a:lnSpc>
                <a:spcPts val="2790"/>
              </a:lnSpc>
              <a:spcBef>
                <a:spcPts val="115"/>
              </a:spcBef>
            </a:pPr>
            <a:r>
              <a:rPr lang="en-US" altLang="en-US" sz="2400" b="0" dirty="0">
                <a:solidFill>
                  <a:srgbClr val="000000"/>
                </a:solidFill>
              </a:rPr>
              <a:t>Dr. P Veera Prakash </a:t>
            </a:r>
            <a:r>
              <a:rPr lang="en-US" altLang="en-US" sz="2400" b="0" baseline="-25000" dirty="0" err="1">
                <a:solidFill>
                  <a:srgbClr val="000000"/>
                </a:solidFill>
              </a:rPr>
              <a:t>M.Tech</a:t>
            </a:r>
            <a:r>
              <a:rPr lang="en-US" altLang="en-US" sz="2400" b="0" baseline="-25000" dirty="0">
                <a:solidFill>
                  <a:srgbClr val="000000"/>
                </a:solidFill>
              </a:rPr>
              <a:t>.,</a:t>
            </a:r>
            <a:r>
              <a:rPr lang="en-US" altLang="en-US" sz="2400" b="0" dirty="0">
                <a:solidFill>
                  <a:srgbClr val="000000"/>
                </a:solidFill>
              </a:rPr>
              <a:t> </a:t>
            </a:r>
            <a:r>
              <a:rPr lang="en-US" altLang="en-US" sz="2400" b="0" baseline="-25000" dirty="0" err="1">
                <a:solidFill>
                  <a:srgbClr val="000000"/>
                </a:solidFill>
              </a:rPr>
              <a:t>Ph.D</a:t>
            </a:r>
            <a:endParaRPr lang="en-US" altLang="en-US" sz="2400" b="0" baseline="-25000" dirty="0">
              <a:solidFill>
                <a:srgbClr val="000000"/>
              </a:solidFill>
            </a:endParaRPr>
          </a:p>
          <a:p>
            <a:pPr>
              <a:lnSpc>
                <a:spcPts val="2790"/>
              </a:lnSpc>
              <a:spcBef>
                <a:spcPts val="115"/>
              </a:spcBef>
            </a:pPr>
            <a:r>
              <a:rPr lang="en-IN" altLang="en-US" sz="2400" b="0" baseline="-25000" dirty="0">
                <a:solidFill>
                  <a:srgbClr val="000000"/>
                </a:solidFill>
              </a:rPr>
              <a:t>Assistant Professor &amp; HOD</a:t>
            </a:r>
            <a:endParaRPr lang="en-US" altLang="en-US" sz="2400" b="0" baseline="-25000" dirty="0">
              <a:solidFill>
                <a:srgbClr val="000000"/>
              </a:solidFill>
            </a:endParaRPr>
          </a:p>
          <a:p>
            <a:pPr>
              <a:lnSpc>
                <a:spcPts val="2790"/>
              </a:lnSpc>
              <a:spcBef>
                <a:spcPts val="115"/>
              </a:spcBef>
            </a:pPr>
            <a:endParaRPr lang="en-IN" altLang="en-US" sz="2400" b="0" dirty="0">
              <a:solidFill>
                <a:srgbClr val="000000"/>
              </a:solidFill>
            </a:endParaRPr>
          </a:p>
          <a:p>
            <a:pPr>
              <a:lnSpc>
                <a:spcPts val="2790"/>
              </a:lnSpc>
              <a:spcBef>
                <a:spcPts val="115"/>
              </a:spcBef>
            </a:pPr>
            <a:endParaRPr lang="en-US" altLang="en-US" sz="2400" b="0" dirty="0">
              <a:solidFill>
                <a:srgbClr val="000000"/>
              </a:solidFill>
              <a:ea typeface="Times New Roman" panose="02020603050405020304" pitchFamily="18" charset="0"/>
            </a:endParaRPr>
          </a:p>
          <a:p>
            <a:pPr>
              <a:spcBef>
                <a:spcPts val="300"/>
              </a:spcBef>
            </a:pPr>
            <a:endParaRPr lang="en-IN" sz="2400" b="0" dirty="0"/>
          </a:p>
        </p:txBody>
      </p:sp>
      <p:sp>
        <p:nvSpPr>
          <p:cNvPr id="3" name="Subtitle 11"/>
          <p:cNvSpPr txBox="1"/>
          <p:nvPr/>
        </p:nvSpPr>
        <p:spPr>
          <a:xfrm>
            <a:off x="1514475" y="5226329"/>
            <a:ext cx="9163049" cy="1427181"/>
          </a:xfrm>
          <a:prstGeom prst="rect">
            <a:avLst/>
          </a:prstGeom>
        </p:spPr>
        <p:txBody>
          <a:bodyPr vert="horz" lIns="91440" tIns="45720" rIns="91440" bIns="45720" rtlCol="0">
            <a:normAutofit fontScale="40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500"/>
              </a:spcBef>
            </a:pPr>
            <a:r>
              <a:rPr lang="en-US" sz="4200" b="0" dirty="0">
                <a:effectLst>
                  <a:outerShdw blurRad="38100" dist="38100" dir="2700000" algn="tl">
                    <a:srgbClr val="000000">
                      <a:alpha val="43137"/>
                    </a:srgbClr>
                  </a:outerShdw>
                </a:effectLst>
              </a:rPr>
              <a:t>Department of Computer Science and Engineering    </a:t>
            </a:r>
          </a:p>
          <a:p>
            <a:pPr>
              <a:spcBef>
                <a:spcPts val="500"/>
              </a:spcBef>
            </a:pPr>
            <a:r>
              <a:rPr lang="en-US" sz="6500" b="0" dirty="0">
                <a:solidFill>
                  <a:srgbClr val="FF0000"/>
                </a:solidFill>
                <a:effectLst>
                  <a:outerShdw blurRad="38100" dist="38100" dir="2700000" algn="tl">
                    <a:srgbClr val="000000">
                      <a:alpha val="43137"/>
                    </a:srgbClr>
                  </a:outerShdw>
                </a:effectLst>
              </a:rPr>
              <a:t>Srinivasa Ramanujan Institute of Technology</a:t>
            </a:r>
          </a:p>
          <a:p>
            <a:pPr>
              <a:spcBef>
                <a:spcPts val="300"/>
              </a:spcBef>
            </a:pPr>
            <a:r>
              <a:rPr lang="en-US" sz="3400" dirty="0">
                <a:effectLst/>
                <a:ea typeface="Times New Roman" panose="02020603050405020304" pitchFamily="18" charset="0"/>
              </a:rPr>
              <a:t>Autonomous</a:t>
            </a:r>
            <a:endParaRPr lang="en-US" sz="3400" b="0" dirty="0"/>
          </a:p>
          <a:p>
            <a:pPr>
              <a:spcBef>
                <a:spcPts val="300"/>
              </a:spcBef>
            </a:pPr>
            <a:r>
              <a:rPr lang="en-US" sz="2770" dirty="0" err="1"/>
              <a:t>Rotarypuram</a:t>
            </a:r>
            <a:r>
              <a:rPr lang="en-US" sz="2770" dirty="0"/>
              <a:t> Village, B K </a:t>
            </a:r>
            <a:r>
              <a:rPr lang="en-US" sz="2770" dirty="0" err="1"/>
              <a:t>Samudram</a:t>
            </a:r>
            <a:r>
              <a:rPr lang="en-US" sz="2770" dirty="0"/>
              <a:t> Mandal, </a:t>
            </a:r>
            <a:r>
              <a:rPr lang="en-US" sz="2770" dirty="0" err="1"/>
              <a:t>Ananthapuramu</a:t>
            </a:r>
            <a:r>
              <a:rPr lang="en-US" sz="2770" dirty="0"/>
              <a:t> – 515701.</a:t>
            </a:r>
          </a:p>
          <a:p>
            <a:pPr>
              <a:spcBef>
                <a:spcPts val="300"/>
              </a:spcBef>
            </a:pPr>
            <a:r>
              <a:rPr lang="en-IN" altLang="en-US" sz="2770" dirty="0"/>
              <a:t>Accredited by NBA &amp; NAAC with “A” Grade,Affiliated to JNTUA,Ananthapuramu</a:t>
            </a:r>
            <a:endParaRPr lang="en-US" sz="2770" dirty="0"/>
          </a:p>
          <a:p>
            <a:pPr>
              <a:spcAft>
                <a:spcPts val="100"/>
              </a:spcAft>
            </a:pPr>
            <a:r>
              <a:rPr lang="en-US" sz="2770" dirty="0">
                <a:solidFill>
                  <a:schemeClr val="accent1">
                    <a:lumMod val="50000"/>
                  </a:schemeClr>
                </a:solidFill>
              </a:rPr>
              <a:t>202</a:t>
            </a:r>
            <a:r>
              <a:rPr lang="en-IN" altLang="en-US" sz="2770" dirty="0">
                <a:solidFill>
                  <a:schemeClr val="accent1">
                    <a:lumMod val="50000"/>
                  </a:schemeClr>
                </a:solidFill>
              </a:rPr>
              <a:t>5</a:t>
            </a:r>
            <a:r>
              <a:rPr lang="en-US" sz="2770" dirty="0">
                <a:solidFill>
                  <a:schemeClr val="accent1">
                    <a:lumMod val="50000"/>
                  </a:schemeClr>
                </a:solidFill>
              </a:rPr>
              <a:t>-202</a:t>
            </a:r>
            <a:r>
              <a:rPr lang="en-IN" altLang="en-US" sz="2770" dirty="0">
                <a:solidFill>
                  <a:schemeClr val="accent1">
                    <a:lumMod val="50000"/>
                  </a:schemeClr>
                </a:solidFill>
              </a:rPr>
              <a:t>6</a:t>
            </a:r>
            <a:endParaRPr lang="en-US" sz="2770" b="0" dirty="0"/>
          </a:p>
          <a:p>
            <a:endParaRPr lang="en-IN" sz="2770" b="0" dirty="0"/>
          </a:p>
        </p:txBody>
      </p:sp>
      <p:sp>
        <p:nvSpPr>
          <p:cNvPr id="8" name="Subtitle 11"/>
          <p:cNvSpPr txBox="1"/>
          <p:nvPr/>
        </p:nvSpPr>
        <p:spPr>
          <a:xfrm>
            <a:off x="3759655" y="1783000"/>
            <a:ext cx="6277480" cy="58453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ctr" defTabSz="914400" rtl="0" eaLnBrk="1" fontAlgn="base" latinLnBrk="0" hangingPunct="1">
              <a:lnSpc>
                <a:spcPts val="2375"/>
              </a:lnSpc>
              <a:spcBef>
                <a:spcPts val="115"/>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Sharath Kumar M</a:t>
            </a:r>
            <a:endPar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ts val="1065"/>
              </a:lnSpc>
              <a:spcBef>
                <a:spcPct val="0"/>
              </a:spcBef>
              <a:spcAft>
                <a:spcPct val="0"/>
              </a:spcAft>
              <a:buClrTx/>
              <a:buSzTx/>
              <a:buFontTx/>
              <a:buNone/>
              <a:tabLst/>
              <a:defRPr/>
            </a:pPr>
            <a:r>
              <a:rPr kumimoji="0" lang="en-US" altLang="zh-CN" sz="9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Roll No. </a:t>
            </a:r>
            <a:r>
              <a:rPr kumimoji="0" lang="en-US" sz="9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22</a:t>
            </a:r>
            <a:r>
              <a:rPr kumimoji="0" lang="en-US" altLang="zh-CN" sz="9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4G1A05</a:t>
            </a:r>
            <a:r>
              <a:rPr kumimoji="0" lang="en-US" sz="9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98</a:t>
            </a:r>
            <a:endParaRPr kumimoji="0" lang="en-US" altLang="zh-CN" sz="900" b="0" i="0" u="none" strike="noStrike" kern="120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mn-cs"/>
            </a:endParaRPr>
          </a:p>
        </p:txBody>
      </p:sp>
      <p:sp>
        <p:nvSpPr>
          <p:cNvPr id="9" name="Subtitle 11"/>
          <p:cNvSpPr txBox="1"/>
          <p:nvPr/>
        </p:nvSpPr>
        <p:spPr>
          <a:xfrm>
            <a:off x="9477143" y="1783000"/>
            <a:ext cx="2382924" cy="58453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endParaRPr lang="en-US" sz="2800" b="0" dirty="0"/>
          </a:p>
        </p:txBody>
      </p:sp>
      <p:sp>
        <p:nvSpPr>
          <p:cNvPr id="10" name="Subtitle 11"/>
          <p:cNvSpPr txBox="1"/>
          <p:nvPr/>
        </p:nvSpPr>
        <p:spPr>
          <a:xfrm>
            <a:off x="1191460" y="1783000"/>
            <a:ext cx="6687266" cy="584534"/>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ts val="10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Sharath V</a:t>
            </a:r>
            <a:endPar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ct val="100000"/>
              </a:lnSpc>
              <a:spcBef>
                <a:spcPts val="40"/>
              </a:spcBef>
              <a:spcAft>
                <a:spcPct val="0"/>
              </a:spcAft>
              <a:buClrTx/>
              <a:buSzTx/>
              <a:buFontTx/>
              <a:buNone/>
              <a:tabLst/>
              <a:defRPr/>
            </a:pPr>
            <a:r>
              <a:rPr kumimoji="0" lang="en-US" altLang="zh-CN" sz="11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Roll No. 2</a:t>
            </a:r>
            <a:r>
              <a:rPr kumimoji="0" lang="en-US" sz="11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2</a:t>
            </a:r>
            <a:r>
              <a:rPr kumimoji="0" lang="en-US" altLang="zh-CN" sz="11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4G1A05</a:t>
            </a:r>
            <a:r>
              <a:rPr kumimoji="0" lang="en-US" sz="11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99</a:t>
            </a:r>
            <a:endParaRPr lang="en-US" sz="1200" b="0" dirty="0"/>
          </a:p>
        </p:txBody>
      </p:sp>
      <p:sp>
        <p:nvSpPr>
          <p:cNvPr id="11" name="Rectangle: Rounded Corners 16"/>
          <p:cNvSpPr/>
          <p:nvPr/>
        </p:nvSpPr>
        <p:spPr>
          <a:xfrm>
            <a:off x="693216" y="346041"/>
            <a:ext cx="10528183" cy="857864"/>
          </a:xfrm>
          <a:prstGeom prst="roundRect">
            <a:avLst/>
          </a:prstGeom>
          <a:solidFill>
            <a:srgbClr val="FF6600"/>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altLang="en-US" sz="3200" dirty="0">
                <a:latin typeface="Times New Roman" panose="02020603050405020304" pitchFamily="18" charset="0"/>
                <a:cs typeface="Times New Roman" panose="02020603050405020304" pitchFamily="18" charset="0"/>
              </a:rPr>
              <a:t>ECOVISION : Deep Learning Model for Seasonal Detection</a:t>
            </a:r>
            <a:endParaRPr lang="en-IN" sz="3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5" name="Rectangle 17"/>
          <p:cNvSpPr/>
          <p:nvPr/>
        </p:nvSpPr>
        <p:spPr>
          <a:xfrm>
            <a:off x="2714840" y="1261696"/>
            <a:ext cx="6762303" cy="338041"/>
          </a:xfrm>
          <a:prstGeom prst="rect">
            <a:avLst/>
          </a:prstGeom>
        </p:spPr>
        <p:txBody>
          <a:bodyPr wrap="square">
            <a:spAutoFit/>
          </a:bodyPr>
          <a:lstStyle/>
          <a:p>
            <a:pPr algn="ctr">
              <a:lnSpc>
                <a:spcPct val="107000"/>
              </a:lnSpc>
              <a:spcBef>
                <a:spcPts val="500"/>
              </a:spcBef>
              <a:spcAft>
                <a:spcPts val="500"/>
              </a:spcAft>
            </a:pPr>
            <a:r>
              <a:rPr lang="en-IN" sz="1600" i="1" dirty="0">
                <a:solidFill>
                  <a:srgbClr val="000000"/>
                </a:solidFill>
                <a:latin typeface="Times New Roman" panose="02020603050405020304" pitchFamily="18" charset="0"/>
                <a:ea typeface="Calibri" panose="020F0502020204030204" pitchFamily="34" charset="0"/>
              </a:rPr>
              <a:t>by</a:t>
            </a:r>
          </a:p>
        </p:txBody>
      </p:sp>
      <p:pic>
        <p:nvPicPr>
          <p:cNvPr id="16" name="Picture 15"/>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5332301" y="3477046"/>
            <a:ext cx="1527379" cy="1685487"/>
          </a:xfrm>
          <a:prstGeom prst="rect">
            <a:avLst/>
          </a:prstGeom>
        </p:spPr>
      </p:pic>
      <p:pic>
        <p:nvPicPr>
          <p:cNvPr id="5" name="Picture 4">
            <a:extLst>
              <a:ext uri="{FF2B5EF4-FFF2-40B4-BE49-F238E27FC236}">
                <a16:creationId xmlns:a16="http://schemas.microsoft.com/office/drawing/2014/main" id="{D6109337-BF04-4723-90B1-5BC6928983D6}"/>
              </a:ext>
            </a:extLst>
          </p:cNvPr>
          <p:cNvPicPr>
            <a:picLocks noChangeAspect="1"/>
          </p:cNvPicPr>
          <p:nvPr/>
        </p:nvPicPr>
        <p:blipFill>
          <a:blip r:embed="rId4"/>
          <a:stretch>
            <a:fillRect/>
          </a:stretch>
        </p:blipFill>
        <p:spPr>
          <a:xfrm>
            <a:off x="737683" y="6615546"/>
            <a:ext cx="10355120" cy="219106"/>
          </a:xfrm>
          <a:prstGeom prst="rect">
            <a:avLst/>
          </a:prstGeom>
        </p:spPr>
      </p:pic>
      <p:pic>
        <p:nvPicPr>
          <p:cNvPr id="12" name="Picture 11">
            <a:extLst>
              <a:ext uri="{FF2B5EF4-FFF2-40B4-BE49-F238E27FC236}">
                <a16:creationId xmlns:a16="http://schemas.microsoft.com/office/drawing/2014/main" id="{A806A553-AA56-46A8-B720-CFB2CE59C6A9}"/>
              </a:ext>
            </a:extLst>
          </p:cNvPr>
          <p:cNvPicPr>
            <a:picLocks noChangeAspect="1"/>
          </p:cNvPicPr>
          <p:nvPr/>
        </p:nvPicPr>
        <p:blipFill>
          <a:blip r:embed="rId5"/>
          <a:stretch>
            <a:fillRect/>
          </a:stretch>
        </p:blipFill>
        <p:spPr>
          <a:xfrm>
            <a:off x="670755" y="-22846"/>
            <a:ext cx="10850489" cy="24768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p5"/>
          <p:cNvSpPr txBox="1">
            <a:spLocks noGrp="1"/>
          </p:cNvSpPr>
          <p:nvPr>
            <p:ph type="title"/>
          </p:nvPr>
        </p:nvSpPr>
        <p:spPr>
          <a:xfrm>
            <a:off x="-2" y="148856"/>
            <a:ext cx="12192000" cy="798795"/>
          </a:xfrm>
          <a:prstGeom prst="rect">
            <a:avLst/>
          </a:prstGeom>
          <a:solidFill>
            <a:srgbClr val="FF6600"/>
          </a:solidFill>
          <a:ln>
            <a:noFill/>
          </a:ln>
          <a:effectLst>
            <a:outerShdw blurRad="44450" dist="27940" dir="5400000" algn="ctr">
              <a:srgbClr val="000000">
                <a:alpha val="31764"/>
              </a:srgbClr>
            </a:outerShdw>
          </a:effectLst>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lt1"/>
              </a:buClr>
              <a:buSzPts val="4400"/>
              <a:buFont typeface="Times New Roman" panose="02020603050405020304"/>
              <a:buNone/>
            </a:pPr>
            <a:r>
              <a:rPr lang="en-US" dirty="0">
                <a:sym typeface="+mn-ea"/>
              </a:rPr>
              <a:t>Title Explanation</a:t>
            </a:r>
            <a:endParaRPr lang="en-US" dirty="0"/>
          </a:p>
        </p:txBody>
      </p:sp>
      <p:sp>
        <p:nvSpPr>
          <p:cNvPr id="44" name="Google Shape;44;p5"/>
          <p:cNvSpPr txBox="1">
            <a:spLocks noGrp="1"/>
          </p:cNvSpPr>
          <p:nvPr>
            <p:ph type="body" idx="1"/>
          </p:nvPr>
        </p:nvSpPr>
        <p:spPr>
          <a:xfrm>
            <a:off x="199505" y="1097279"/>
            <a:ext cx="11779135" cy="5394960"/>
          </a:xfrm>
          <a:prstGeom prst="rect">
            <a:avLst/>
          </a:prstGeom>
          <a:noFill/>
          <a:ln>
            <a:noFill/>
          </a:ln>
        </p:spPr>
        <p:txBody>
          <a:bodyPr spcFirstLastPara="1" wrap="square" lIns="91425" tIns="45700" rIns="91425" bIns="45700" anchor="t" anchorCtr="0">
            <a:normAutofit/>
          </a:bodyPr>
          <a:lstStyle/>
          <a:p>
            <a:r>
              <a:rPr lang="en-US" sz="2400" dirty="0"/>
              <a:t>The title </a:t>
            </a:r>
            <a:r>
              <a:rPr lang="en-US" sz="2400" b="1" dirty="0"/>
              <a:t>“ECOVISION”</a:t>
            </a:r>
            <a:r>
              <a:rPr lang="en-US" sz="2400" dirty="0"/>
              <a:t> represents an intelligent system developed to understand and identify various seasons using artificial intelligence techniques.</a:t>
            </a:r>
          </a:p>
          <a:p>
            <a:r>
              <a:rPr lang="en-US" sz="2400" dirty="0"/>
              <a:t>The word </a:t>
            </a:r>
            <a:r>
              <a:rPr lang="en-US" sz="2400" b="1" dirty="0"/>
              <a:t>“Eco”</a:t>
            </a:r>
            <a:r>
              <a:rPr lang="en-US" sz="2400" dirty="0"/>
              <a:t> refers to ecology and the natural environment, indicating that the project focuses on seasonal changes observed in plants and trees. The word </a:t>
            </a:r>
            <a:r>
              <a:rPr lang="en-US" sz="2400" b="1" dirty="0"/>
              <a:t>“Vision”</a:t>
            </a:r>
            <a:r>
              <a:rPr lang="en-US" sz="2400" dirty="0"/>
              <a:t> signifies the use of computer vision and deep learning methods to analyze visual data, particularly images of vegetation.</a:t>
            </a:r>
          </a:p>
          <a:p>
            <a:r>
              <a:rPr lang="en-US" sz="2400" dirty="0"/>
              <a:t>The phrase </a:t>
            </a:r>
            <a:r>
              <a:rPr lang="en-US" sz="2400" b="1" dirty="0"/>
              <a:t>“Deep Learning Model for Seasonal Detection”</a:t>
            </a:r>
            <a:r>
              <a:rPr lang="en-US" sz="2400" dirty="0"/>
              <a:t> clearly describes the main objective of the project, which is to automatically detect and classify different seasons by learning patterns from plant images. The model identifies visual characteristics such as leaf color, density, and texture that vary across seasons.</a:t>
            </a:r>
          </a:p>
          <a:p>
            <a:r>
              <a:rPr lang="en-US" sz="2400" dirty="0"/>
              <a:t>Overall, the title reflects the integration of </a:t>
            </a:r>
            <a:r>
              <a:rPr lang="en-US" sz="2400" b="1" dirty="0"/>
              <a:t>environmental awareness</a:t>
            </a:r>
            <a:r>
              <a:rPr lang="en-US" sz="2400" dirty="0"/>
              <a:t> and </a:t>
            </a:r>
            <a:r>
              <a:rPr lang="en-US" sz="2400" b="1" dirty="0"/>
              <a:t>advanced deep learning technology</a:t>
            </a:r>
            <a:r>
              <a:rPr lang="en-US" sz="2400" dirty="0"/>
              <a:t> to build an intelligent system capable of seasonal detection with practical applications in agriculture and environmental monitoring.</a:t>
            </a:r>
          </a:p>
          <a:p>
            <a:endParaRPr lang="en-IN" sz="2400" dirty="0"/>
          </a:p>
        </p:txBody>
      </p:sp>
      <p:pic>
        <p:nvPicPr>
          <p:cNvPr id="2" name="Picture 1">
            <a:extLst>
              <a:ext uri="{FF2B5EF4-FFF2-40B4-BE49-F238E27FC236}">
                <a16:creationId xmlns:a16="http://schemas.microsoft.com/office/drawing/2014/main" id="{776C3B12-6F62-49CF-BD6D-9FF17DCBBDC7}"/>
              </a:ext>
            </a:extLst>
          </p:cNvPr>
          <p:cNvPicPr>
            <a:picLocks noChangeAspect="1"/>
          </p:cNvPicPr>
          <p:nvPr/>
        </p:nvPicPr>
        <p:blipFill>
          <a:blip r:embed="rId3"/>
          <a:stretch>
            <a:fillRect/>
          </a:stretch>
        </p:blipFill>
        <p:spPr>
          <a:xfrm>
            <a:off x="4009734" y="9387"/>
            <a:ext cx="4172532" cy="161948"/>
          </a:xfrm>
          <a:prstGeom prst="rect">
            <a:avLst/>
          </a:prstGeom>
        </p:spPr>
      </p:pic>
      <p:pic>
        <p:nvPicPr>
          <p:cNvPr id="3" name="Picture 2">
            <a:extLst>
              <a:ext uri="{FF2B5EF4-FFF2-40B4-BE49-F238E27FC236}">
                <a16:creationId xmlns:a16="http://schemas.microsoft.com/office/drawing/2014/main" id="{F82E6CF8-BD80-4094-A890-09B7EFFF6235}"/>
              </a:ext>
            </a:extLst>
          </p:cNvPr>
          <p:cNvPicPr>
            <a:picLocks noChangeAspect="1"/>
          </p:cNvPicPr>
          <p:nvPr/>
        </p:nvPicPr>
        <p:blipFill>
          <a:blip r:embed="rId4"/>
          <a:stretch>
            <a:fillRect/>
          </a:stretch>
        </p:blipFill>
        <p:spPr>
          <a:xfrm>
            <a:off x="1162991" y="6626186"/>
            <a:ext cx="10355120" cy="21910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49" name="Google Shape;49;p6"/>
          <p:cNvSpPr txBox="1">
            <a:spLocks noGrp="1"/>
          </p:cNvSpPr>
          <p:nvPr>
            <p:ph type="title"/>
          </p:nvPr>
        </p:nvSpPr>
        <p:spPr>
          <a:xfrm>
            <a:off x="-2" y="232759"/>
            <a:ext cx="12192000" cy="714892"/>
          </a:xfrm>
          <a:prstGeom prst="rect">
            <a:avLst/>
          </a:prstGeom>
          <a:solidFill>
            <a:srgbClr val="FF6600"/>
          </a:solidFill>
          <a:ln>
            <a:noFill/>
          </a:ln>
          <a:effectLst>
            <a:outerShdw blurRad="44450" dist="27940" dir="5400000" algn="ctr">
              <a:srgbClr val="000000">
                <a:alpha val="31764"/>
              </a:srgbClr>
            </a:outerShdw>
          </a:effectLst>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4400"/>
              <a:buFont typeface="Times New Roman" panose="02020603050405020304"/>
              <a:buNone/>
            </a:pPr>
            <a:r>
              <a:rPr lang="en-US"/>
              <a:t>Contents</a:t>
            </a:r>
          </a:p>
        </p:txBody>
      </p:sp>
      <p:sp>
        <p:nvSpPr>
          <p:cNvPr id="50" name="Google Shape;50;p6"/>
          <p:cNvSpPr txBox="1">
            <a:spLocks noGrp="1"/>
          </p:cNvSpPr>
          <p:nvPr>
            <p:ph type="body" idx="1"/>
          </p:nvPr>
        </p:nvSpPr>
        <p:spPr>
          <a:xfrm>
            <a:off x="199505" y="1097279"/>
            <a:ext cx="11779135" cy="5394960"/>
          </a:xfrm>
          <a:prstGeom prst="rect">
            <a:avLst/>
          </a:prstGeom>
          <a:noFill/>
          <a:ln>
            <a:noFill/>
          </a:ln>
        </p:spPr>
        <p:txBody>
          <a:bodyPr spcFirstLastPara="1" wrap="square" lIns="91425" tIns="45700" rIns="91425" bIns="45700" anchor="t" anchorCtr="0">
            <a:normAutofit/>
          </a:bodyPr>
          <a:lstStyle/>
          <a:p>
            <a:pPr marL="462280" lvl="0" indent="-462280" algn="just" rtl="0">
              <a:lnSpc>
                <a:spcPct val="90000"/>
              </a:lnSpc>
              <a:spcBef>
                <a:spcPts val="0"/>
              </a:spcBef>
              <a:spcAft>
                <a:spcPts val="0"/>
              </a:spcAft>
              <a:buClr>
                <a:schemeClr val="dk1"/>
              </a:buClr>
              <a:buSzPts val="2800"/>
              <a:buChar char="•"/>
            </a:pPr>
            <a:r>
              <a:rPr lang="en-US" dirty="0"/>
              <a:t>Abstract</a:t>
            </a:r>
          </a:p>
          <a:p>
            <a:pPr marL="462280" lvl="0" indent="-462280" algn="just" rtl="0">
              <a:lnSpc>
                <a:spcPct val="90000"/>
              </a:lnSpc>
              <a:spcBef>
                <a:spcPts val="1000"/>
              </a:spcBef>
              <a:spcAft>
                <a:spcPts val="0"/>
              </a:spcAft>
              <a:buClr>
                <a:schemeClr val="dk1"/>
              </a:buClr>
              <a:buSzPts val="2800"/>
              <a:buChar char="•"/>
            </a:pPr>
            <a:r>
              <a:rPr lang="en-US" dirty="0"/>
              <a:t>Introduction</a:t>
            </a:r>
          </a:p>
          <a:p>
            <a:pPr marL="462280" lvl="0" indent="-462280" algn="just" rtl="0">
              <a:lnSpc>
                <a:spcPct val="90000"/>
              </a:lnSpc>
              <a:spcBef>
                <a:spcPts val="1000"/>
              </a:spcBef>
              <a:spcAft>
                <a:spcPts val="0"/>
              </a:spcAft>
              <a:buClr>
                <a:schemeClr val="dk1"/>
              </a:buClr>
              <a:buSzPts val="2800"/>
              <a:buChar char="•"/>
            </a:pPr>
            <a:r>
              <a:rPr lang="en-US" dirty="0"/>
              <a:t>Software Requirements</a:t>
            </a:r>
          </a:p>
          <a:p>
            <a:pPr marL="462280" lvl="0" indent="-462280" algn="just" rtl="0">
              <a:lnSpc>
                <a:spcPct val="90000"/>
              </a:lnSpc>
              <a:spcBef>
                <a:spcPts val="1000"/>
              </a:spcBef>
              <a:spcAft>
                <a:spcPts val="0"/>
              </a:spcAft>
              <a:buClr>
                <a:schemeClr val="dk1"/>
              </a:buClr>
              <a:buSzPts val="2800"/>
              <a:buChar char="•"/>
            </a:pPr>
            <a:r>
              <a:rPr lang="en-US" dirty="0"/>
              <a:t>Datasets/Modules</a:t>
            </a:r>
          </a:p>
          <a:p>
            <a:pPr marL="462280" lvl="0" indent="-462280" algn="just" rtl="0">
              <a:lnSpc>
                <a:spcPct val="90000"/>
              </a:lnSpc>
              <a:spcBef>
                <a:spcPts val="1000"/>
              </a:spcBef>
              <a:spcAft>
                <a:spcPts val="0"/>
              </a:spcAft>
              <a:buClr>
                <a:schemeClr val="dk1"/>
              </a:buClr>
              <a:buSzPts val="2800"/>
              <a:buChar char="•"/>
            </a:pPr>
            <a:r>
              <a:rPr lang="en-US" dirty="0"/>
              <a:t>Implementation</a:t>
            </a:r>
          </a:p>
          <a:p>
            <a:pPr marL="462280" lvl="0" indent="-462280" algn="just" rtl="0">
              <a:lnSpc>
                <a:spcPct val="90000"/>
              </a:lnSpc>
              <a:spcBef>
                <a:spcPts val="1000"/>
              </a:spcBef>
              <a:spcAft>
                <a:spcPts val="0"/>
              </a:spcAft>
              <a:buClr>
                <a:schemeClr val="dk1"/>
              </a:buClr>
              <a:buSzPts val="2800"/>
              <a:buChar char="•"/>
            </a:pPr>
            <a:r>
              <a:rPr lang="en-US" dirty="0"/>
              <a:t>Outputs</a:t>
            </a:r>
          </a:p>
          <a:p>
            <a:pPr marL="462280" lvl="0" indent="-462280" algn="just" rtl="0">
              <a:lnSpc>
                <a:spcPct val="90000"/>
              </a:lnSpc>
              <a:spcBef>
                <a:spcPts val="1000"/>
              </a:spcBef>
              <a:spcAft>
                <a:spcPts val="0"/>
              </a:spcAft>
              <a:buClr>
                <a:schemeClr val="dk1"/>
              </a:buClr>
              <a:buSzPts val="2800"/>
              <a:buChar char="•"/>
            </a:pPr>
            <a:r>
              <a:rPr lang="en-US" dirty="0"/>
              <a:t>Conclusion</a:t>
            </a:r>
          </a:p>
          <a:p>
            <a:pPr marL="462280" lvl="0" indent="-462280" algn="just" rtl="0">
              <a:lnSpc>
                <a:spcPct val="90000"/>
              </a:lnSpc>
              <a:spcBef>
                <a:spcPts val="1000"/>
              </a:spcBef>
              <a:spcAft>
                <a:spcPts val="0"/>
              </a:spcAft>
              <a:buClr>
                <a:schemeClr val="dk1"/>
              </a:buClr>
              <a:buSzPts val="2800"/>
              <a:buChar char="•"/>
            </a:pPr>
            <a:r>
              <a:rPr lang="en-US" dirty="0"/>
              <a:t>References</a:t>
            </a:r>
          </a:p>
          <a:p>
            <a:pPr marL="0" lvl="0" indent="0" algn="just" rtl="0">
              <a:lnSpc>
                <a:spcPct val="90000"/>
              </a:lnSpc>
              <a:spcBef>
                <a:spcPts val="1000"/>
              </a:spcBef>
              <a:spcAft>
                <a:spcPts val="0"/>
              </a:spcAft>
              <a:buClr>
                <a:schemeClr val="dk1"/>
              </a:buClr>
              <a:buSzPts val="2800"/>
              <a:buNone/>
            </a:pPr>
            <a:endParaRPr lang="en-US" dirty="0"/>
          </a:p>
        </p:txBody>
      </p:sp>
      <p:pic>
        <p:nvPicPr>
          <p:cNvPr id="2" name="Picture 1">
            <a:extLst>
              <a:ext uri="{FF2B5EF4-FFF2-40B4-BE49-F238E27FC236}">
                <a16:creationId xmlns:a16="http://schemas.microsoft.com/office/drawing/2014/main" id="{7ECEBAAE-F633-44B6-8AD2-62CF89C1B273}"/>
              </a:ext>
            </a:extLst>
          </p:cNvPr>
          <p:cNvPicPr>
            <a:picLocks noChangeAspect="1"/>
          </p:cNvPicPr>
          <p:nvPr/>
        </p:nvPicPr>
        <p:blipFill>
          <a:blip r:embed="rId3"/>
          <a:stretch>
            <a:fillRect/>
          </a:stretch>
        </p:blipFill>
        <p:spPr>
          <a:xfrm>
            <a:off x="670755" y="-22846"/>
            <a:ext cx="10850489" cy="247685"/>
          </a:xfrm>
          <a:prstGeom prst="rect">
            <a:avLst/>
          </a:prstGeom>
        </p:spPr>
      </p:pic>
      <p:pic>
        <p:nvPicPr>
          <p:cNvPr id="3" name="Picture 2">
            <a:extLst>
              <a:ext uri="{FF2B5EF4-FFF2-40B4-BE49-F238E27FC236}">
                <a16:creationId xmlns:a16="http://schemas.microsoft.com/office/drawing/2014/main" id="{E590B21E-1352-49DA-860F-D411E072B16B}"/>
              </a:ext>
            </a:extLst>
          </p:cNvPr>
          <p:cNvPicPr>
            <a:picLocks noChangeAspect="1"/>
          </p:cNvPicPr>
          <p:nvPr/>
        </p:nvPicPr>
        <p:blipFill>
          <a:blip r:embed="rId4"/>
          <a:stretch>
            <a:fillRect/>
          </a:stretch>
        </p:blipFill>
        <p:spPr>
          <a:xfrm>
            <a:off x="1077931" y="6615549"/>
            <a:ext cx="10355120" cy="21910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49" name="Google Shape;49;p6"/>
          <p:cNvSpPr txBox="1">
            <a:spLocks noGrp="1"/>
          </p:cNvSpPr>
          <p:nvPr>
            <p:ph type="title"/>
          </p:nvPr>
        </p:nvSpPr>
        <p:spPr>
          <a:xfrm>
            <a:off x="-2" y="232759"/>
            <a:ext cx="12192000" cy="714892"/>
          </a:xfrm>
          <a:prstGeom prst="rect">
            <a:avLst/>
          </a:prstGeom>
          <a:solidFill>
            <a:srgbClr val="FF6600"/>
          </a:solidFill>
          <a:ln>
            <a:noFill/>
          </a:ln>
          <a:effectLst>
            <a:outerShdw blurRad="44450" dist="27940" dir="5400000" algn="ctr">
              <a:srgbClr val="000000">
                <a:alpha val="31764"/>
              </a:srgbClr>
            </a:outerShdw>
          </a:effectLst>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4400"/>
              <a:buFont typeface="Times New Roman" panose="02020603050405020304"/>
              <a:buNone/>
            </a:pPr>
            <a:r>
              <a:rPr lang="en-US">
                <a:sym typeface="+mn-ea"/>
              </a:rPr>
              <a:t>Abstract</a:t>
            </a:r>
            <a:endParaRPr lang="en-US"/>
          </a:p>
        </p:txBody>
      </p:sp>
      <p:sp>
        <p:nvSpPr>
          <p:cNvPr id="50" name="Google Shape;50;p6"/>
          <p:cNvSpPr txBox="1">
            <a:spLocks noGrp="1"/>
          </p:cNvSpPr>
          <p:nvPr>
            <p:ph type="body" idx="1"/>
          </p:nvPr>
        </p:nvSpPr>
        <p:spPr>
          <a:xfrm>
            <a:off x="206430" y="1129177"/>
            <a:ext cx="11779135" cy="5394960"/>
          </a:xfrm>
          <a:prstGeom prst="rect">
            <a:avLst/>
          </a:prstGeom>
          <a:noFill/>
          <a:ln>
            <a:noFill/>
          </a:ln>
        </p:spPr>
        <p:txBody>
          <a:bodyPr spcFirstLastPara="1" wrap="square" lIns="91425" tIns="45700" rIns="91425" bIns="45700" anchor="t" anchorCtr="0">
            <a:normAutofit/>
          </a:bodyPr>
          <a:lstStyle/>
          <a:p>
            <a:r>
              <a:rPr lang="en-US" dirty="0"/>
              <a:t>Seasonal Detection significantly influence plant growth, agriculture, and environmental assessment, making accurate season identification essential.</a:t>
            </a:r>
          </a:p>
          <a:p>
            <a:r>
              <a:rPr lang="en-US" dirty="0"/>
              <a:t>Traditional seasonal detection methods rely on manual observation or isolated climatic data, leading to inconsistent and less reliable predictions.</a:t>
            </a:r>
          </a:p>
          <a:p>
            <a:r>
              <a:rPr lang="en-US" dirty="0"/>
              <a:t>A multimodal AI approach is employed, combining CNN-based plant image feature extraction with machine-learning analysis of environmental parameters.</a:t>
            </a:r>
          </a:p>
          <a:p>
            <a:r>
              <a:rPr lang="en-US" dirty="0"/>
              <a:t>The integrated model achieves higher seasonal prediction accuracy than single-input image-only or climate-only methods.</a:t>
            </a:r>
          </a:p>
          <a:p>
            <a:r>
              <a:rPr lang="en-US" dirty="0"/>
              <a:t>The study demonstrates that </a:t>
            </a:r>
            <a:r>
              <a:rPr lang="en-US" dirty="0" err="1"/>
              <a:t>Ecovision</a:t>
            </a:r>
            <a:r>
              <a:rPr lang="en-US" dirty="0"/>
              <a:t> is a scalable and intelligent solution for agriculture, ecological research, and climate-based decision-making.</a:t>
            </a:r>
          </a:p>
          <a:p>
            <a:endParaRPr lang="en-IN" dirty="0"/>
          </a:p>
        </p:txBody>
      </p:sp>
      <p:pic>
        <p:nvPicPr>
          <p:cNvPr id="2" name="Picture 1">
            <a:extLst>
              <a:ext uri="{FF2B5EF4-FFF2-40B4-BE49-F238E27FC236}">
                <a16:creationId xmlns:a16="http://schemas.microsoft.com/office/drawing/2014/main" id="{6DE0963B-EAFE-42D9-B427-70BB28F96C62}"/>
              </a:ext>
            </a:extLst>
          </p:cNvPr>
          <p:cNvPicPr>
            <a:picLocks noChangeAspect="1"/>
          </p:cNvPicPr>
          <p:nvPr/>
        </p:nvPicPr>
        <p:blipFill>
          <a:blip r:embed="rId3"/>
          <a:stretch>
            <a:fillRect/>
          </a:stretch>
        </p:blipFill>
        <p:spPr>
          <a:xfrm>
            <a:off x="4009734" y="41293"/>
            <a:ext cx="4172532" cy="161948"/>
          </a:xfrm>
          <a:prstGeom prst="rect">
            <a:avLst/>
          </a:prstGeom>
        </p:spPr>
      </p:pic>
      <p:pic>
        <p:nvPicPr>
          <p:cNvPr id="3" name="Picture 2">
            <a:extLst>
              <a:ext uri="{FF2B5EF4-FFF2-40B4-BE49-F238E27FC236}">
                <a16:creationId xmlns:a16="http://schemas.microsoft.com/office/drawing/2014/main" id="{61CF07B1-06DE-4486-8421-6F8758C72C8C}"/>
              </a:ext>
            </a:extLst>
          </p:cNvPr>
          <p:cNvPicPr>
            <a:picLocks noChangeAspect="1"/>
          </p:cNvPicPr>
          <p:nvPr/>
        </p:nvPicPr>
        <p:blipFill>
          <a:blip r:embed="rId4"/>
          <a:stretch>
            <a:fillRect/>
          </a:stretch>
        </p:blipFill>
        <p:spPr>
          <a:xfrm>
            <a:off x="1120461" y="6615545"/>
            <a:ext cx="10355120" cy="21910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Introduction</a:t>
            </a:r>
            <a:endParaRPr lang="en-US"/>
          </a:p>
        </p:txBody>
      </p:sp>
      <p:sp>
        <p:nvSpPr>
          <p:cNvPr id="4" name="Rectangle 1">
            <a:extLst>
              <a:ext uri="{FF2B5EF4-FFF2-40B4-BE49-F238E27FC236}">
                <a16:creationId xmlns:a16="http://schemas.microsoft.com/office/drawing/2014/main" id="{F6AE6D79-5297-422A-BD01-28543DE33D99}"/>
              </a:ext>
            </a:extLst>
          </p:cNvPr>
          <p:cNvSpPr>
            <a:spLocks noGrp="1" noChangeArrowheads="1"/>
          </p:cNvSpPr>
          <p:nvPr>
            <p:ph type="body" idx="1"/>
          </p:nvPr>
        </p:nvSpPr>
        <p:spPr bwMode="auto">
          <a:xfrm>
            <a:off x="199505" y="493855"/>
            <a:ext cx="10949565" cy="66018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0800" indent="0">
              <a:buNone/>
            </a:pPr>
            <a:endParaRPr lang="en-US" sz="2400" b="1" dirty="0"/>
          </a:p>
          <a:p>
            <a:r>
              <a:rPr lang="en-US" sz="2400" dirty="0"/>
              <a:t>Seasonal Detection is crucial for agriculture, plant research, environmental monitoring, and biotechnology.</a:t>
            </a:r>
          </a:p>
          <a:p>
            <a:r>
              <a:rPr lang="en-US" sz="2400" dirty="0"/>
              <a:t>Traditional methods rely on manual plant observation or separate weather reports.</a:t>
            </a:r>
          </a:p>
          <a:p>
            <a:r>
              <a:rPr lang="en-US" sz="2400" dirty="0"/>
              <a:t>Manual approaches are prone to human error, subjectivity, and inconsistent results.</a:t>
            </a:r>
          </a:p>
          <a:p>
            <a:r>
              <a:rPr lang="en-US" sz="2400" dirty="0"/>
              <a:t>Image-based models capture visual features but ignore real-time environmental factors.</a:t>
            </a:r>
          </a:p>
          <a:p>
            <a:r>
              <a:rPr lang="en-US" sz="2400" dirty="0"/>
              <a:t>Weather-based models focus on climatic data but overlook important visual changes in plants.</a:t>
            </a:r>
          </a:p>
          <a:p>
            <a:r>
              <a:rPr lang="en-US" sz="2400" dirty="0"/>
              <a:t>Lack of integration between plant imagery and environmental data leads to incomplete seasonal detection.</a:t>
            </a:r>
          </a:p>
          <a:p>
            <a:r>
              <a:rPr lang="en-US" sz="2400" dirty="0"/>
              <a:t>Accurate seasonal detection is essential for crop planning, ecological analysis, and scientific research.</a:t>
            </a:r>
          </a:p>
          <a:p>
            <a:r>
              <a:rPr lang="en-US" sz="2400" b="1" dirty="0" err="1"/>
              <a:t>Ecovision</a:t>
            </a:r>
            <a:r>
              <a:rPr lang="en-US" sz="2400" dirty="0"/>
              <a:t> uses deep learning to combine plant images and environmental parameters for reliable, automated seasonal detection.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1F8300D5-21B9-4392-8829-4987DE274067}"/>
              </a:ext>
            </a:extLst>
          </p:cNvPr>
          <p:cNvPicPr>
            <a:picLocks noChangeAspect="1"/>
          </p:cNvPicPr>
          <p:nvPr/>
        </p:nvPicPr>
        <p:blipFill>
          <a:blip r:embed="rId2"/>
          <a:stretch>
            <a:fillRect/>
          </a:stretch>
        </p:blipFill>
        <p:spPr>
          <a:xfrm>
            <a:off x="4009734" y="20023"/>
            <a:ext cx="4172532" cy="161948"/>
          </a:xfrm>
          <a:prstGeom prst="rect">
            <a:avLst/>
          </a:prstGeom>
        </p:spPr>
      </p:pic>
      <p:pic>
        <p:nvPicPr>
          <p:cNvPr id="5" name="Picture 4">
            <a:extLst>
              <a:ext uri="{FF2B5EF4-FFF2-40B4-BE49-F238E27FC236}">
                <a16:creationId xmlns:a16="http://schemas.microsoft.com/office/drawing/2014/main" id="{D8C682A6-B2E1-439F-A5C4-8F6B8DC33A78}"/>
              </a:ext>
            </a:extLst>
          </p:cNvPr>
          <p:cNvPicPr>
            <a:picLocks noChangeAspect="1"/>
          </p:cNvPicPr>
          <p:nvPr/>
        </p:nvPicPr>
        <p:blipFill>
          <a:blip r:embed="rId3"/>
          <a:stretch>
            <a:fillRect/>
          </a:stretch>
        </p:blipFill>
        <p:spPr>
          <a:xfrm>
            <a:off x="1067298" y="6615553"/>
            <a:ext cx="10355120" cy="21910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Software Requirements</a:t>
            </a:r>
            <a:endParaRPr lang="en-US"/>
          </a:p>
        </p:txBody>
      </p:sp>
      <p:sp>
        <p:nvSpPr>
          <p:cNvPr id="3" name="Text Placeholder 2"/>
          <p:cNvSpPr>
            <a:spLocks noGrp="1"/>
          </p:cNvSpPr>
          <p:nvPr>
            <p:ph type="body" idx="1"/>
          </p:nvPr>
        </p:nvSpPr>
        <p:spPr/>
        <p:txBody>
          <a:bodyPr/>
          <a:lstStyle/>
          <a:p>
            <a:pPr lvl="0"/>
            <a:r>
              <a:rPr lang="en-US" dirty="0"/>
              <a:t>Software: Anaconda (2023.03-1)</a:t>
            </a:r>
            <a:endParaRPr lang="en-IN" dirty="0"/>
          </a:p>
          <a:p>
            <a:pPr lvl="0"/>
            <a:r>
              <a:rPr lang="en-US" dirty="0"/>
              <a:t>Primary Language: Python (3.10.9)</a:t>
            </a:r>
            <a:endParaRPr lang="en-IN" dirty="0"/>
          </a:p>
          <a:p>
            <a:pPr lvl="0"/>
            <a:r>
              <a:rPr lang="en-US" dirty="0"/>
              <a:t>Web Framework: Flask</a:t>
            </a:r>
            <a:endParaRPr lang="en-IN" dirty="0"/>
          </a:p>
          <a:p>
            <a:pPr lvl="0"/>
            <a:r>
              <a:rPr lang="en-US" dirty="0"/>
              <a:t>Development Environment: Jupyter Notebook</a:t>
            </a:r>
            <a:endParaRPr lang="en-IN" dirty="0"/>
          </a:p>
          <a:p>
            <a:pPr lvl="0"/>
            <a:r>
              <a:rPr lang="en-US" dirty="0"/>
              <a:t>Database: Sqlite3</a:t>
            </a:r>
            <a:endParaRPr lang="en-IN" dirty="0"/>
          </a:p>
          <a:p>
            <a:pPr lvl="0"/>
            <a:r>
              <a:rPr lang="en-US" dirty="0"/>
              <a:t>Front-End Technologies: HTML, CSS, JavaScript and Bootstrap4</a:t>
            </a:r>
          </a:p>
        </p:txBody>
      </p:sp>
      <p:pic>
        <p:nvPicPr>
          <p:cNvPr id="4" name="Picture 3">
            <a:extLst>
              <a:ext uri="{FF2B5EF4-FFF2-40B4-BE49-F238E27FC236}">
                <a16:creationId xmlns:a16="http://schemas.microsoft.com/office/drawing/2014/main" id="{A85A9577-1283-466A-B570-95C841E1FACA}"/>
              </a:ext>
            </a:extLst>
          </p:cNvPr>
          <p:cNvPicPr>
            <a:picLocks noChangeAspect="1"/>
          </p:cNvPicPr>
          <p:nvPr/>
        </p:nvPicPr>
        <p:blipFill>
          <a:blip r:embed="rId2"/>
          <a:stretch>
            <a:fillRect/>
          </a:stretch>
        </p:blipFill>
        <p:spPr>
          <a:xfrm>
            <a:off x="1173622" y="6615552"/>
            <a:ext cx="10355120" cy="219106"/>
          </a:xfrm>
          <a:prstGeom prst="rect">
            <a:avLst/>
          </a:prstGeom>
        </p:spPr>
      </p:pic>
      <p:pic>
        <p:nvPicPr>
          <p:cNvPr id="5" name="Picture 4">
            <a:extLst>
              <a:ext uri="{FF2B5EF4-FFF2-40B4-BE49-F238E27FC236}">
                <a16:creationId xmlns:a16="http://schemas.microsoft.com/office/drawing/2014/main" id="{3EC76E76-C3F6-4101-9F39-FD9BB27E080F}"/>
              </a:ext>
            </a:extLst>
          </p:cNvPr>
          <p:cNvPicPr>
            <a:picLocks noChangeAspect="1"/>
          </p:cNvPicPr>
          <p:nvPr/>
        </p:nvPicPr>
        <p:blipFill>
          <a:blip r:embed="rId3"/>
          <a:stretch>
            <a:fillRect/>
          </a:stretch>
        </p:blipFill>
        <p:spPr>
          <a:xfrm>
            <a:off x="4009734" y="20023"/>
            <a:ext cx="4172532" cy="16194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Datasets/Modules</a:t>
            </a:r>
            <a:endParaRPr lang="en-US"/>
          </a:p>
        </p:txBody>
      </p:sp>
      <p:sp>
        <p:nvSpPr>
          <p:cNvPr id="3" name="Text Placeholder 2"/>
          <p:cNvSpPr>
            <a:spLocks noGrp="1"/>
          </p:cNvSpPr>
          <p:nvPr>
            <p:ph type="body" idx="1"/>
          </p:nvPr>
        </p:nvSpPr>
        <p:spPr/>
        <p:txBody>
          <a:bodyPr>
            <a:normAutofit fontScale="85000" lnSpcReduction="20000"/>
          </a:bodyPr>
          <a:lstStyle/>
          <a:p>
            <a:r>
              <a:rPr lang="en-IN" dirty="0"/>
              <a:t>The dataset consists of plant and tree images collected across different seasons such as summer, winter, monsoon, spring, and autumn. Images capture seasonal phenological changes including leaf colour variation, flowering stages, drying patterns, and canopy density. Each image is labelled according to its corresponding season.</a:t>
            </a:r>
          </a:p>
          <a:p>
            <a:r>
              <a:rPr lang="en-IN" dirty="0"/>
              <a:t>Plant images are mapped to seasons based on the date, geographical location, and known regional seasonal calendars. This mapping ensures accurate association between visual plant characteristics and seasonal phases.</a:t>
            </a:r>
          </a:p>
          <a:p>
            <a:r>
              <a:rPr lang="en-IN" dirty="0"/>
              <a:t>Environmental parameters include temperature, humidity, precipitation, wind speed, pressure, soil moisture, solar radiation, and cloud visibility. These features provide climatic context that influences plant growth and seasonal transitions.</a:t>
            </a:r>
          </a:p>
          <a:p>
            <a:r>
              <a:rPr lang="en-IN" dirty="0"/>
              <a:t>Plant image data and environmental features are combined into a unified dataset using structured formats such as CSV or SQLite, enabling synchronized multimodal learning and effective seasonal prediction.</a:t>
            </a:r>
          </a:p>
          <a:p>
            <a:r>
              <a:rPr lang="en-IN" dirty="0"/>
              <a:t>In cases where real-world environmental data is unavailable or incomplete, synthetic environmental datasets are generated using statistically realistic ranges and distributions to maintain data consistency and model robustness.</a:t>
            </a:r>
          </a:p>
        </p:txBody>
      </p:sp>
      <p:pic>
        <p:nvPicPr>
          <p:cNvPr id="4" name="Picture 3">
            <a:extLst>
              <a:ext uri="{FF2B5EF4-FFF2-40B4-BE49-F238E27FC236}">
                <a16:creationId xmlns:a16="http://schemas.microsoft.com/office/drawing/2014/main" id="{7AF0482A-F872-4174-8748-29B70E644372}"/>
              </a:ext>
            </a:extLst>
          </p:cNvPr>
          <p:cNvPicPr>
            <a:picLocks noChangeAspect="1"/>
          </p:cNvPicPr>
          <p:nvPr/>
        </p:nvPicPr>
        <p:blipFill>
          <a:blip r:embed="rId2"/>
          <a:stretch>
            <a:fillRect/>
          </a:stretch>
        </p:blipFill>
        <p:spPr>
          <a:xfrm>
            <a:off x="4009734" y="41283"/>
            <a:ext cx="4172532" cy="161948"/>
          </a:xfrm>
          <a:prstGeom prst="rect">
            <a:avLst/>
          </a:prstGeom>
        </p:spPr>
      </p:pic>
      <p:pic>
        <p:nvPicPr>
          <p:cNvPr id="5" name="Picture 4">
            <a:extLst>
              <a:ext uri="{FF2B5EF4-FFF2-40B4-BE49-F238E27FC236}">
                <a16:creationId xmlns:a16="http://schemas.microsoft.com/office/drawing/2014/main" id="{1D612E1B-E77A-415D-A32B-FA71A177E69F}"/>
              </a:ext>
            </a:extLst>
          </p:cNvPr>
          <p:cNvPicPr>
            <a:picLocks noChangeAspect="1"/>
          </p:cNvPicPr>
          <p:nvPr/>
        </p:nvPicPr>
        <p:blipFill>
          <a:blip r:embed="rId3"/>
          <a:stretch>
            <a:fillRect/>
          </a:stretch>
        </p:blipFill>
        <p:spPr>
          <a:xfrm>
            <a:off x="1162989" y="6626181"/>
            <a:ext cx="10355120" cy="21910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ym typeface="+mn-ea"/>
              </a:rPr>
              <a:t>Implementation – Use Case Diagram</a:t>
            </a:r>
            <a:endParaRPr lang="en-US" dirty="0"/>
          </a:p>
        </p:txBody>
      </p:sp>
      <p:sp>
        <p:nvSpPr>
          <p:cNvPr id="3" name="Text Placeholder 2"/>
          <p:cNvSpPr>
            <a:spLocks noGrp="1"/>
          </p:cNvSpPr>
          <p:nvPr>
            <p:ph type="body" idx="1"/>
          </p:nvPr>
        </p:nvSpPr>
        <p:spPr>
          <a:xfrm>
            <a:off x="6222124" y="1097279"/>
            <a:ext cx="5756516" cy="5394960"/>
          </a:xfrm>
        </p:spPr>
        <p:txBody>
          <a:bodyPr/>
          <a:lstStyle/>
          <a:p>
            <a:r>
              <a:rPr lang="en-US" dirty="0"/>
              <a:t>Use case diagram defines system functionality through actors and use cases, showing association between users and features like image upload, data entry, prediction viewing, and authentication within </a:t>
            </a:r>
            <a:r>
              <a:rPr lang="en-US" dirty="0" err="1"/>
              <a:t>Ecovision</a:t>
            </a:r>
            <a:r>
              <a:rPr lang="en-US" dirty="0"/>
              <a:t> interface flow.</a:t>
            </a:r>
          </a:p>
          <a:p>
            <a:endParaRPr lang="en-IN" altLang="en-US" dirty="0"/>
          </a:p>
        </p:txBody>
      </p:sp>
      <p:pic>
        <p:nvPicPr>
          <p:cNvPr id="5" name="Picture 4"/>
          <p:cNvPicPr>
            <a:picLocks noChangeAspect="1"/>
          </p:cNvPicPr>
          <p:nvPr/>
        </p:nvPicPr>
        <p:blipFill>
          <a:blip r:embed="rId2"/>
          <a:stretch>
            <a:fillRect/>
          </a:stretch>
        </p:blipFill>
        <p:spPr>
          <a:xfrm>
            <a:off x="679039" y="990187"/>
            <a:ext cx="5311858" cy="5502052"/>
          </a:xfrm>
          <a:prstGeom prst="rect">
            <a:avLst/>
          </a:prstGeom>
        </p:spPr>
      </p:pic>
      <p:pic>
        <p:nvPicPr>
          <p:cNvPr id="4" name="Picture 3">
            <a:extLst>
              <a:ext uri="{FF2B5EF4-FFF2-40B4-BE49-F238E27FC236}">
                <a16:creationId xmlns:a16="http://schemas.microsoft.com/office/drawing/2014/main" id="{AE5789E8-E5F6-4DD5-9FC5-BEE7793C29A8}"/>
              </a:ext>
            </a:extLst>
          </p:cNvPr>
          <p:cNvPicPr>
            <a:picLocks noChangeAspect="1"/>
          </p:cNvPicPr>
          <p:nvPr/>
        </p:nvPicPr>
        <p:blipFill>
          <a:blip r:embed="rId3"/>
          <a:stretch>
            <a:fillRect/>
          </a:stretch>
        </p:blipFill>
        <p:spPr>
          <a:xfrm>
            <a:off x="4009734" y="30656"/>
            <a:ext cx="4172532" cy="161948"/>
          </a:xfrm>
          <a:prstGeom prst="rect">
            <a:avLst/>
          </a:prstGeom>
        </p:spPr>
      </p:pic>
      <p:pic>
        <p:nvPicPr>
          <p:cNvPr id="6" name="Picture 5">
            <a:extLst>
              <a:ext uri="{FF2B5EF4-FFF2-40B4-BE49-F238E27FC236}">
                <a16:creationId xmlns:a16="http://schemas.microsoft.com/office/drawing/2014/main" id="{8AF261BF-5D2C-4AF9-AD6D-A6052E05CD93}"/>
              </a:ext>
            </a:extLst>
          </p:cNvPr>
          <p:cNvPicPr>
            <a:picLocks noChangeAspect="1"/>
          </p:cNvPicPr>
          <p:nvPr/>
        </p:nvPicPr>
        <p:blipFill>
          <a:blip r:embed="rId4"/>
          <a:stretch>
            <a:fillRect/>
          </a:stretch>
        </p:blipFill>
        <p:spPr>
          <a:xfrm>
            <a:off x="1109830" y="6615550"/>
            <a:ext cx="10355120" cy="21910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ym typeface="+mn-ea"/>
              </a:rPr>
              <a:t>Implementation – Class Diagram</a:t>
            </a:r>
            <a:endParaRPr lang="en-US" dirty="0"/>
          </a:p>
        </p:txBody>
      </p:sp>
      <p:sp>
        <p:nvSpPr>
          <p:cNvPr id="3" name="Text Placeholder 2"/>
          <p:cNvSpPr>
            <a:spLocks noGrp="1"/>
          </p:cNvSpPr>
          <p:nvPr>
            <p:ph type="body" idx="1"/>
          </p:nvPr>
        </p:nvSpPr>
        <p:spPr>
          <a:xfrm>
            <a:off x="6843440" y="1097279"/>
            <a:ext cx="5135200" cy="5394960"/>
          </a:xfrm>
        </p:spPr>
        <p:txBody>
          <a:bodyPr/>
          <a:lstStyle/>
          <a:p>
            <a:r>
              <a:rPr lang="en-IN" dirty="0"/>
              <a:t>Class diagram represents system structure using classes with attributes and operations, illustrating aggregation among </a:t>
            </a:r>
            <a:r>
              <a:rPr lang="en-IN" dirty="0" err="1"/>
              <a:t>ImageData</a:t>
            </a:r>
            <a:r>
              <a:rPr lang="en-IN" dirty="0"/>
              <a:t>, </a:t>
            </a:r>
            <a:r>
              <a:rPr lang="en-IN" dirty="0" err="1"/>
              <a:t>EnvironmentalData</a:t>
            </a:r>
            <a:r>
              <a:rPr lang="en-IN" dirty="0"/>
              <a:t>, User, Model, and </a:t>
            </a:r>
            <a:r>
              <a:rPr lang="en-IN" dirty="0" err="1"/>
              <a:t>PredictionResult</a:t>
            </a:r>
            <a:r>
              <a:rPr lang="en-IN" dirty="0"/>
              <a:t> to support seasonal detection logic processing accuracy scalability and maintainability.</a:t>
            </a:r>
          </a:p>
          <a:p>
            <a:endParaRPr lang="en-US" dirty="0"/>
          </a:p>
          <a:p>
            <a:endParaRPr lang="en-IN" altLang="en-US" dirty="0"/>
          </a:p>
        </p:txBody>
      </p:sp>
      <p:pic>
        <p:nvPicPr>
          <p:cNvPr id="4" name="Picture 3"/>
          <p:cNvPicPr>
            <a:picLocks noChangeAspect="1"/>
          </p:cNvPicPr>
          <p:nvPr/>
        </p:nvPicPr>
        <p:blipFill>
          <a:blip r:embed="rId2"/>
          <a:stretch>
            <a:fillRect/>
          </a:stretch>
        </p:blipFill>
        <p:spPr>
          <a:xfrm>
            <a:off x="10510" y="1223403"/>
            <a:ext cx="6832930" cy="4336569"/>
          </a:xfrm>
          <a:prstGeom prst="rect">
            <a:avLst/>
          </a:prstGeom>
        </p:spPr>
      </p:pic>
      <p:pic>
        <p:nvPicPr>
          <p:cNvPr id="5" name="Picture 4">
            <a:extLst>
              <a:ext uri="{FF2B5EF4-FFF2-40B4-BE49-F238E27FC236}">
                <a16:creationId xmlns:a16="http://schemas.microsoft.com/office/drawing/2014/main" id="{D5DBDA74-11CB-4C7A-AD44-815C198D1194}"/>
              </a:ext>
            </a:extLst>
          </p:cNvPr>
          <p:cNvPicPr>
            <a:picLocks noChangeAspect="1"/>
          </p:cNvPicPr>
          <p:nvPr/>
        </p:nvPicPr>
        <p:blipFill>
          <a:blip r:embed="rId3"/>
          <a:stretch>
            <a:fillRect/>
          </a:stretch>
        </p:blipFill>
        <p:spPr>
          <a:xfrm>
            <a:off x="4009734" y="30656"/>
            <a:ext cx="4172532" cy="161948"/>
          </a:xfrm>
          <a:prstGeom prst="rect">
            <a:avLst/>
          </a:prstGeom>
        </p:spPr>
      </p:pic>
      <p:pic>
        <p:nvPicPr>
          <p:cNvPr id="6" name="Picture 5">
            <a:extLst>
              <a:ext uri="{FF2B5EF4-FFF2-40B4-BE49-F238E27FC236}">
                <a16:creationId xmlns:a16="http://schemas.microsoft.com/office/drawing/2014/main" id="{018C7F17-D236-4244-AE95-E446853306E6}"/>
              </a:ext>
            </a:extLst>
          </p:cNvPr>
          <p:cNvPicPr>
            <a:picLocks noChangeAspect="1"/>
          </p:cNvPicPr>
          <p:nvPr/>
        </p:nvPicPr>
        <p:blipFill>
          <a:blip r:embed="rId4"/>
          <a:stretch>
            <a:fillRect/>
          </a:stretch>
        </p:blipFill>
        <p:spPr>
          <a:xfrm>
            <a:off x="1141726" y="6615551"/>
            <a:ext cx="10355120" cy="219106"/>
          </a:xfrm>
          <a:prstGeom prst="rect">
            <a:avLst/>
          </a:prstGeom>
        </p:spPr>
      </p:pic>
    </p:spTree>
    <p:extLst>
      <p:ext uri="{BB962C8B-B14F-4D97-AF65-F5344CB8AC3E}">
        <p14:creationId xmlns:p14="http://schemas.microsoft.com/office/powerpoint/2010/main" val="19516278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ym typeface="+mn-ea"/>
              </a:rPr>
              <a:t>Implementation – Activity Diagram</a:t>
            </a:r>
            <a:endParaRPr lang="en-US" dirty="0"/>
          </a:p>
        </p:txBody>
      </p:sp>
      <p:sp>
        <p:nvSpPr>
          <p:cNvPr id="3" name="Text Placeholder 2"/>
          <p:cNvSpPr>
            <a:spLocks noGrp="1"/>
          </p:cNvSpPr>
          <p:nvPr>
            <p:ph type="body" idx="1"/>
          </p:nvPr>
        </p:nvSpPr>
        <p:spPr>
          <a:xfrm>
            <a:off x="7410005" y="1097279"/>
            <a:ext cx="4568636" cy="5394960"/>
          </a:xfrm>
        </p:spPr>
        <p:txBody>
          <a:bodyPr/>
          <a:lstStyle/>
          <a:p>
            <a:r>
              <a:rPr lang="en-US" dirty="0"/>
              <a:t>Activity diagram models workflow using actions, decisions, and control flow, depicting steps from login, image upload, parameter input, preprocessing, prediction execution, and result display in </a:t>
            </a:r>
            <a:r>
              <a:rPr lang="en-US" dirty="0" err="1"/>
              <a:t>Ecovision</a:t>
            </a:r>
            <a:r>
              <a:rPr lang="en-US" dirty="0"/>
              <a:t> interface validation feedback handling.</a:t>
            </a:r>
          </a:p>
          <a:p>
            <a:endParaRPr lang="en-IN" altLang="en-US" dirty="0"/>
          </a:p>
        </p:txBody>
      </p:sp>
      <p:pic>
        <p:nvPicPr>
          <p:cNvPr id="4" name="Picture 3"/>
          <p:cNvPicPr>
            <a:picLocks noChangeAspect="1"/>
          </p:cNvPicPr>
          <p:nvPr/>
        </p:nvPicPr>
        <p:blipFill>
          <a:blip r:embed="rId2"/>
          <a:stretch>
            <a:fillRect/>
          </a:stretch>
        </p:blipFill>
        <p:spPr>
          <a:xfrm>
            <a:off x="143204" y="1097279"/>
            <a:ext cx="7266800" cy="5261480"/>
          </a:xfrm>
          <a:prstGeom prst="rect">
            <a:avLst/>
          </a:prstGeom>
        </p:spPr>
      </p:pic>
      <p:pic>
        <p:nvPicPr>
          <p:cNvPr id="5" name="Picture 4">
            <a:extLst>
              <a:ext uri="{FF2B5EF4-FFF2-40B4-BE49-F238E27FC236}">
                <a16:creationId xmlns:a16="http://schemas.microsoft.com/office/drawing/2014/main" id="{9EB28007-CBA0-4D80-90BA-65BBD82E03C3}"/>
              </a:ext>
            </a:extLst>
          </p:cNvPr>
          <p:cNvPicPr>
            <a:picLocks noChangeAspect="1"/>
          </p:cNvPicPr>
          <p:nvPr/>
        </p:nvPicPr>
        <p:blipFill>
          <a:blip r:embed="rId3"/>
          <a:stretch>
            <a:fillRect/>
          </a:stretch>
        </p:blipFill>
        <p:spPr>
          <a:xfrm>
            <a:off x="4009734" y="30656"/>
            <a:ext cx="4172532" cy="161948"/>
          </a:xfrm>
          <a:prstGeom prst="rect">
            <a:avLst/>
          </a:prstGeom>
        </p:spPr>
      </p:pic>
      <p:pic>
        <p:nvPicPr>
          <p:cNvPr id="6" name="Picture 5">
            <a:extLst>
              <a:ext uri="{FF2B5EF4-FFF2-40B4-BE49-F238E27FC236}">
                <a16:creationId xmlns:a16="http://schemas.microsoft.com/office/drawing/2014/main" id="{9BD3F741-B770-473D-88AA-675F156DFE57}"/>
              </a:ext>
            </a:extLst>
          </p:cNvPr>
          <p:cNvPicPr>
            <a:picLocks noChangeAspect="1"/>
          </p:cNvPicPr>
          <p:nvPr/>
        </p:nvPicPr>
        <p:blipFill>
          <a:blip r:embed="rId4"/>
          <a:stretch>
            <a:fillRect/>
          </a:stretch>
        </p:blipFill>
        <p:spPr>
          <a:xfrm>
            <a:off x="1141726" y="6615551"/>
            <a:ext cx="10355120" cy="219106"/>
          </a:xfrm>
          <a:prstGeom prst="rect">
            <a:avLst/>
          </a:prstGeom>
        </p:spPr>
      </p:pic>
    </p:spTree>
    <p:extLst>
      <p:ext uri="{BB962C8B-B14F-4D97-AF65-F5344CB8AC3E}">
        <p14:creationId xmlns:p14="http://schemas.microsoft.com/office/powerpoint/2010/main" val="24046912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ym typeface="+mn-ea"/>
              </a:rPr>
              <a:t>Implementation – Sequence Diagram</a:t>
            </a:r>
            <a:endParaRPr lang="en-US" dirty="0"/>
          </a:p>
        </p:txBody>
      </p:sp>
      <p:sp>
        <p:nvSpPr>
          <p:cNvPr id="3" name="Text Placeholder 2"/>
          <p:cNvSpPr>
            <a:spLocks noGrp="1"/>
          </p:cNvSpPr>
          <p:nvPr>
            <p:ph type="body" idx="1"/>
          </p:nvPr>
        </p:nvSpPr>
        <p:spPr>
          <a:xfrm>
            <a:off x="6409340" y="1097279"/>
            <a:ext cx="5569300" cy="5394960"/>
          </a:xfrm>
        </p:spPr>
        <p:txBody>
          <a:bodyPr/>
          <a:lstStyle/>
          <a:p>
            <a:r>
              <a:rPr lang="en-US" dirty="0"/>
              <a:t>Sequence diagram explains runtime interaction by showing objects and object message flow among User Interface, Preprocessor, </a:t>
            </a:r>
            <a:r>
              <a:rPr lang="en-US" dirty="0" err="1"/>
              <a:t>PredictionModel</a:t>
            </a:r>
            <a:r>
              <a:rPr lang="en-US" dirty="0"/>
              <a:t>, and Database, ensuring ordered execution of requests, responses, and seasonal prediction delivery accuracy assurance.</a:t>
            </a:r>
          </a:p>
          <a:p>
            <a:endParaRPr lang="en-IN" altLang="en-US" dirty="0"/>
          </a:p>
        </p:txBody>
      </p:sp>
      <p:pic>
        <p:nvPicPr>
          <p:cNvPr id="4" name="Picture 3"/>
          <p:cNvPicPr>
            <a:picLocks noChangeAspect="1"/>
          </p:cNvPicPr>
          <p:nvPr/>
        </p:nvPicPr>
        <p:blipFill>
          <a:blip r:embed="rId2"/>
          <a:stretch>
            <a:fillRect/>
          </a:stretch>
        </p:blipFill>
        <p:spPr>
          <a:xfrm>
            <a:off x="367860" y="1209739"/>
            <a:ext cx="6041480" cy="5282500"/>
          </a:xfrm>
          <a:prstGeom prst="rect">
            <a:avLst/>
          </a:prstGeom>
        </p:spPr>
      </p:pic>
      <p:pic>
        <p:nvPicPr>
          <p:cNvPr id="5" name="Picture 4">
            <a:extLst>
              <a:ext uri="{FF2B5EF4-FFF2-40B4-BE49-F238E27FC236}">
                <a16:creationId xmlns:a16="http://schemas.microsoft.com/office/drawing/2014/main" id="{1024BF38-369B-466A-BBA9-F30FA5157781}"/>
              </a:ext>
            </a:extLst>
          </p:cNvPr>
          <p:cNvPicPr>
            <a:picLocks noChangeAspect="1"/>
          </p:cNvPicPr>
          <p:nvPr/>
        </p:nvPicPr>
        <p:blipFill>
          <a:blip r:embed="rId3"/>
          <a:stretch>
            <a:fillRect/>
          </a:stretch>
        </p:blipFill>
        <p:spPr>
          <a:xfrm>
            <a:off x="4009734" y="20029"/>
            <a:ext cx="4172532" cy="161948"/>
          </a:xfrm>
          <a:prstGeom prst="rect">
            <a:avLst/>
          </a:prstGeom>
        </p:spPr>
      </p:pic>
      <p:pic>
        <p:nvPicPr>
          <p:cNvPr id="6" name="Picture 5">
            <a:extLst>
              <a:ext uri="{FF2B5EF4-FFF2-40B4-BE49-F238E27FC236}">
                <a16:creationId xmlns:a16="http://schemas.microsoft.com/office/drawing/2014/main" id="{5C89ABF3-BC0B-4F92-BB61-017B5C160853}"/>
              </a:ext>
            </a:extLst>
          </p:cNvPr>
          <p:cNvPicPr>
            <a:picLocks noChangeAspect="1"/>
          </p:cNvPicPr>
          <p:nvPr/>
        </p:nvPicPr>
        <p:blipFill>
          <a:blip r:embed="rId4"/>
          <a:stretch>
            <a:fillRect/>
          </a:stretch>
        </p:blipFill>
        <p:spPr>
          <a:xfrm>
            <a:off x="1067298" y="6626181"/>
            <a:ext cx="10355120" cy="219106"/>
          </a:xfrm>
          <a:prstGeom prst="rect">
            <a:avLst/>
          </a:prstGeom>
        </p:spPr>
      </p:pic>
    </p:spTree>
    <p:extLst>
      <p:ext uri="{BB962C8B-B14F-4D97-AF65-F5344CB8AC3E}">
        <p14:creationId xmlns:p14="http://schemas.microsoft.com/office/powerpoint/2010/main" val="17874257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ym typeface="+mn-ea"/>
              </a:rPr>
              <a:t>Implementation – Collaboration Diagram</a:t>
            </a:r>
            <a:endParaRPr lang="en-US" dirty="0"/>
          </a:p>
        </p:txBody>
      </p:sp>
      <p:sp>
        <p:nvSpPr>
          <p:cNvPr id="3" name="Text Placeholder 2"/>
          <p:cNvSpPr>
            <a:spLocks noGrp="1"/>
          </p:cNvSpPr>
          <p:nvPr>
            <p:ph type="body" idx="1"/>
          </p:nvPr>
        </p:nvSpPr>
        <p:spPr>
          <a:xfrm>
            <a:off x="6409340" y="1097279"/>
            <a:ext cx="5569300" cy="5394960"/>
          </a:xfrm>
        </p:spPr>
        <p:txBody>
          <a:bodyPr/>
          <a:lstStyle/>
          <a:p>
            <a:r>
              <a:rPr lang="en-US" dirty="0"/>
              <a:t>Collaboration diagram emphasizes object interaction through link messages, illustrating how </a:t>
            </a:r>
            <a:r>
              <a:rPr lang="en-US" dirty="0" err="1"/>
              <a:t>UserInterface</a:t>
            </a:r>
            <a:r>
              <a:rPr lang="en-US" dirty="0"/>
              <a:t>, </a:t>
            </a:r>
            <a:r>
              <a:rPr lang="en-US" dirty="0" err="1"/>
              <a:t>FeatureExtractor</a:t>
            </a:r>
            <a:r>
              <a:rPr lang="en-US" dirty="0"/>
              <a:t>, </a:t>
            </a:r>
            <a:r>
              <a:rPr lang="en-US" dirty="0" err="1"/>
              <a:t>FusionLayer</a:t>
            </a:r>
            <a:r>
              <a:rPr lang="en-US" dirty="0"/>
              <a:t>, and </a:t>
            </a:r>
            <a:r>
              <a:rPr lang="en-US" dirty="0" err="1"/>
              <a:t>PredictionModule</a:t>
            </a:r>
            <a:r>
              <a:rPr lang="en-US" dirty="0"/>
              <a:t> cooperate to exchange data efficiently for accurate seasonal detection logic consistency reliability performance flow control.</a:t>
            </a:r>
            <a:endParaRPr lang="en-IN" altLang="en-US" dirty="0"/>
          </a:p>
        </p:txBody>
      </p:sp>
      <p:pic>
        <p:nvPicPr>
          <p:cNvPr id="5" name="Picture 4"/>
          <p:cNvPicPr>
            <a:picLocks noChangeAspect="1"/>
          </p:cNvPicPr>
          <p:nvPr/>
        </p:nvPicPr>
        <p:blipFill>
          <a:blip r:embed="rId2"/>
          <a:stretch>
            <a:fillRect/>
          </a:stretch>
        </p:blipFill>
        <p:spPr>
          <a:xfrm>
            <a:off x="-1" y="1221117"/>
            <a:ext cx="6421100" cy="4675186"/>
          </a:xfrm>
          <a:prstGeom prst="rect">
            <a:avLst/>
          </a:prstGeom>
        </p:spPr>
      </p:pic>
      <p:pic>
        <p:nvPicPr>
          <p:cNvPr id="4" name="Picture 3">
            <a:extLst>
              <a:ext uri="{FF2B5EF4-FFF2-40B4-BE49-F238E27FC236}">
                <a16:creationId xmlns:a16="http://schemas.microsoft.com/office/drawing/2014/main" id="{B1F70C0C-CDF5-43E7-A5FD-5873D125DA64}"/>
              </a:ext>
            </a:extLst>
          </p:cNvPr>
          <p:cNvPicPr>
            <a:picLocks noChangeAspect="1"/>
          </p:cNvPicPr>
          <p:nvPr/>
        </p:nvPicPr>
        <p:blipFill>
          <a:blip r:embed="rId3"/>
          <a:stretch>
            <a:fillRect/>
          </a:stretch>
        </p:blipFill>
        <p:spPr>
          <a:xfrm>
            <a:off x="4009734" y="51924"/>
            <a:ext cx="4172532" cy="161948"/>
          </a:xfrm>
          <a:prstGeom prst="rect">
            <a:avLst/>
          </a:prstGeom>
        </p:spPr>
      </p:pic>
      <p:pic>
        <p:nvPicPr>
          <p:cNvPr id="6" name="Picture 5">
            <a:extLst>
              <a:ext uri="{FF2B5EF4-FFF2-40B4-BE49-F238E27FC236}">
                <a16:creationId xmlns:a16="http://schemas.microsoft.com/office/drawing/2014/main" id="{0046EC2C-132B-4425-934E-FA2C5B2925AA}"/>
              </a:ext>
            </a:extLst>
          </p:cNvPr>
          <p:cNvPicPr>
            <a:picLocks noChangeAspect="1"/>
          </p:cNvPicPr>
          <p:nvPr/>
        </p:nvPicPr>
        <p:blipFill>
          <a:blip r:embed="rId4"/>
          <a:stretch>
            <a:fillRect/>
          </a:stretch>
        </p:blipFill>
        <p:spPr>
          <a:xfrm>
            <a:off x="1109829" y="6615547"/>
            <a:ext cx="10355120" cy="219106"/>
          </a:xfrm>
          <a:prstGeom prst="rect">
            <a:avLst/>
          </a:prstGeom>
        </p:spPr>
      </p:pic>
    </p:spTree>
    <p:extLst>
      <p:ext uri="{BB962C8B-B14F-4D97-AF65-F5344CB8AC3E}">
        <p14:creationId xmlns:p14="http://schemas.microsoft.com/office/powerpoint/2010/main" val="35300937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ym typeface="+mn-ea"/>
              </a:rPr>
              <a:t>Implementation – Component Diagram</a:t>
            </a:r>
            <a:endParaRPr lang="en-US" dirty="0"/>
          </a:p>
        </p:txBody>
      </p:sp>
      <p:sp>
        <p:nvSpPr>
          <p:cNvPr id="3" name="Text Placeholder 2"/>
          <p:cNvSpPr>
            <a:spLocks noGrp="1"/>
          </p:cNvSpPr>
          <p:nvPr>
            <p:ph type="body" idx="1"/>
          </p:nvPr>
        </p:nvSpPr>
        <p:spPr>
          <a:xfrm>
            <a:off x="6127531" y="1097279"/>
            <a:ext cx="5851109" cy="5394960"/>
          </a:xfrm>
        </p:spPr>
        <p:txBody>
          <a:bodyPr/>
          <a:lstStyle/>
          <a:p>
            <a:r>
              <a:rPr lang="en-US" dirty="0"/>
              <a:t>Component diagram shows system organization into components and packages such as frontend, preprocessing, model, and database, highlighting dependency relationships that enable modular development, maintenance, and scalable seasonal detection deployment flexibility.</a:t>
            </a:r>
            <a:endParaRPr lang="en-IN" altLang="en-US" dirty="0"/>
          </a:p>
        </p:txBody>
      </p:sp>
      <p:pic>
        <p:nvPicPr>
          <p:cNvPr id="4" name="Picture 3"/>
          <p:cNvPicPr>
            <a:picLocks noChangeAspect="1"/>
          </p:cNvPicPr>
          <p:nvPr/>
        </p:nvPicPr>
        <p:blipFill>
          <a:blip r:embed="rId2"/>
          <a:stretch>
            <a:fillRect/>
          </a:stretch>
        </p:blipFill>
        <p:spPr>
          <a:xfrm>
            <a:off x="213360" y="1297384"/>
            <a:ext cx="5602522" cy="3148492"/>
          </a:xfrm>
          <a:prstGeom prst="rect">
            <a:avLst/>
          </a:prstGeom>
        </p:spPr>
      </p:pic>
      <p:pic>
        <p:nvPicPr>
          <p:cNvPr id="5" name="Picture 4">
            <a:extLst>
              <a:ext uri="{FF2B5EF4-FFF2-40B4-BE49-F238E27FC236}">
                <a16:creationId xmlns:a16="http://schemas.microsoft.com/office/drawing/2014/main" id="{50728D3F-1E77-4D3D-AEB1-36814264CF65}"/>
              </a:ext>
            </a:extLst>
          </p:cNvPr>
          <p:cNvPicPr>
            <a:picLocks noChangeAspect="1"/>
          </p:cNvPicPr>
          <p:nvPr/>
        </p:nvPicPr>
        <p:blipFill>
          <a:blip r:embed="rId3"/>
          <a:stretch>
            <a:fillRect/>
          </a:stretch>
        </p:blipFill>
        <p:spPr>
          <a:xfrm>
            <a:off x="4009734" y="51920"/>
            <a:ext cx="4172532" cy="161948"/>
          </a:xfrm>
          <a:prstGeom prst="rect">
            <a:avLst/>
          </a:prstGeom>
        </p:spPr>
      </p:pic>
      <p:pic>
        <p:nvPicPr>
          <p:cNvPr id="6" name="Picture 5">
            <a:extLst>
              <a:ext uri="{FF2B5EF4-FFF2-40B4-BE49-F238E27FC236}">
                <a16:creationId xmlns:a16="http://schemas.microsoft.com/office/drawing/2014/main" id="{D360C10D-A3BF-41E8-95A4-D917A5AFB843}"/>
              </a:ext>
            </a:extLst>
          </p:cNvPr>
          <p:cNvPicPr>
            <a:picLocks noChangeAspect="1"/>
          </p:cNvPicPr>
          <p:nvPr/>
        </p:nvPicPr>
        <p:blipFill>
          <a:blip r:embed="rId4"/>
          <a:stretch>
            <a:fillRect/>
          </a:stretch>
        </p:blipFill>
        <p:spPr>
          <a:xfrm>
            <a:off x="1162991" y="6626186"/>
            <a:ext cx="10355120" cy="219106"/>
          </a:xfrm>
          <a:prstGeom prst="rect">
            <a:avLst/>
          </a:prstGeom>
        </p:spPr>
      </p:pic>
    </p:spTree>
    <p:extLst>
      <p:ext uri="{BB962C8B-B14F-4D97-AF65-F5344CB8AC3E}">
        <p14:creationId xmlns:p14="http://schemas.microsoft.com/office/powerpoint/2010/main" val="27177092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ym typeface="+mn-ea"/>
              </a:rPr>
              <a:t>Implementation – Deployment Diagram</a:t>
            </a:r>
            <a:endParaRPr lang="en-US" dirty="0"/>
          </a:p>
        </p:txBody>
      </p:sp>
      <p:sp>
        <p:nvSpPr>
          <p:cNvPr id="3" name="Text Placeholder 2"/>
          <p:cNvSpPr>
            <a:spLocks noGrp="1"/>
          </p:cNvSpPr>
          <p:nvPr>
            <p:ph type="body" idx="1"/>
          </p:nvPr>
        </p:nvSpPr>
        <p:spPr>
          <a:xfrm>
            <a:off x="6409340" y="1097279"/>
            <a:ext cx="5569300" cy="5394960"/>
          </a:xfrm>
        </p:spPr>
        <p:txBody>
          <a:bodyPr/>
          <a:lstStyle/>
          <a:p>
            <a:r>
              <a:rPr lang="en-IN" dirty="0"/>
              <a:t>Deployment diagram describes physical architecture using nodes, connector, note, and anchor note to item, mapping web server, database server, and user device deployment for real time seasonal detection reliability monitoring.</a:t>
            </a:r>
            <a:endParaRPr lang="en-IN" altLang="en-US" dirty="0"/>
          </a:p>
        </p:txBody>
      </p:sp>
      <p:pic>
        <p:nvPicPr>
          <p:cNvPr id="4" name="Picture 3"/>
          <p:cNvPicPr>
            <a:picLocks noChangeAspect="1"/>
          </p:cNvPicPr>
          <p:nvPr/>
        </p:nvPicPr>
        <p:blipFill>
          <a:blip r:embed="rId2"/>
          <a:stretch>
            <a:fillRect/>
          </a:stretch>
        </p:blipFill>
        <p:spPr>
          <a:xfrm>
            <a:off x="165717" y="1437328"/>
            <a:ext cx="5930281" cy="2661707"/>
          </a:xfrm>
          <a:prstGeom prst="rect">
            <a:avLst/>
          </a:prstGeom>
        </p:spPr>
      </p:pic>
      <p:pic>
        <p:nvPicPr>
          <p:cNvPr id="5" name="Picture 4">
            <a:extLst>
              <a:ext uri="{FF2B5EF4-FFF2-40B4-BE49-F238E27FC236}">
                <a16:creationId xmlns:a16="http://schemas.microsoft.com/office/drawing/2014/main" id="{4DE4D680-3110-4879-A913-57BF8E86F2F0}"/>
              </a:ext>
            </a:extLst>
          </p:cNvPr>
          <p:cNvPicPr>
            <a:picLocks noChangeAspect="1"/>
          </p:cNvPicPr>
          <p:nvPr/>
        </p:nvPicPr>
        <p:blipFill>
          <a:blip r:embed="rId3"/>
          <a:stretch>
            <a:fillRect/>
          </a:stretch>
        </p:blipFill>
        <p:spPr>
          <a:xfrm>
            <a:off x="4009734" y="30662"/>
            <a:ext cx="4172532" cy="161948"/>
          </a:xfrm>
          <a:prstGeom prst="rect">
            <a:avLst/>
          </a:prstGeom>
        </p:spPr>
      </p:pic>
      <p:pic>
        <p:nvPicPr>
          <p:cNvPr id="6" name="Picture 5">
            <a:extLst>
              <a:ext uri="{FF2B5EF4-FFF2-40B4-BE49-F238E27FC236}">
                <a16:creationId xmlns:a16="http://schemas.microsoft.com/office/drawing/2014/main" id="{B82B086F-342C-4EAD-96BA-10A4B145F274}"/>
              </a:ext>
            </a:extLst>
          </p:cNvPr>
          <p:cNvPicPr>
            <a:picLocks noChangeAspect="1"/>
          </p:cNvPicPr>
          <p:nvPr/>
        </p:nvPicPr>
        <p:blipFill>
          <a:blip r:embed="rId4"/>
          <a:stretch>
            <a:fillRect/>
          </a:stretch>
        </p:blipFill>
        <p:spPr>
          <a:xfrm>
            <a:off x="1067299" y="6626172"/>
            <a:ext cx="10355120" cy="219106"/>
          </a:xfrm>
          <a:prstGeom prst="rect">
            <a:avLst/>
          </a:prstGeom>
        </p:spPr>
      </p:pic>
    </p:spTree>
    <p:extLst>
      <p:ext uri="{BB962C8B-B14F-4D97-AF65-F5344CB8AC3E}">
        <p14:creationId xmlns:p14="http://schemas.microsoft.com/office/powerpoint/2010/main" val="11799533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Outputs</a:t>
            </a:r>
            <a:endParaRPr lang="en-US"/>
          </a:p>
        </p:txBody>
      </p:sp>
      <p:sp>
        <p:nvSpPr>
          <p:cNvPr id="3" name="Text Placeholder 2"/>
          <p:cNvSpPr>
            <a:spLocks noGrp="1"/>
          </p:cNvSpPr>
          <p:nvPr>
            <p:ph type="body" idx="1"/>
          </p:nvPr>
        </p:nvSpPr>
        <p:spPr/>
        <p:txBody>
          <a:bodyPr/>
          <a:lstStyle/>
          <a:p>
            <a:pPr marL="50800" indent="0">
              <a:buNone/>
            </a:pPr>
            <a:endParaRPr lang="en-US" dirty="0"/>
          </a:p>
          <a:p>
            <a:endParaRPr lang="en-US" dirty="0"/>
          </a:p>
        </p:txBody>
      </p:sp>
      <p:pic>
        <p:nvPicPr>
          <p:cNvPr id="4" name="Picture 3">
            <a:extLst>
              <a:ext uri="{FF2B5EF4-FFF2-40B4-BE49-F238E27FC236}">
                <a16:creationId xmlns:a16="http://schemas.microsoft.com/office/drawing/2014/main" id="{0D69A77C-9287-48E3-BB5A-3BC962512936}"/>
              </a:ext>
            </a:extLst>
          </p:cNvPr>
          <p:cNvPicPr>
            <a:picLocks noChangeAspect="1"/>
          </p:cNvPicPr>
          <p:nvPr/>
        </p:nvPicPr>
        <p:blipFill>
          <a:blip r:embed="rId2"/>
          <a:stretch>
            <a:fillRect/>
          </a:stretch>
        </p:blipFill>
        <p:spPr>
          <a:xfrm>
            <a:off x="4009734" y="20025"/>
            <a:ext cx="4172532" cy="161948"/>
          </a:xfrm>
          <a:prstGeom prst="rect">
            <a:avLst/>
          </a:prstGeom>
        </p:spPr>
      </p:pic>
      <p:pic>
        <p:nvPicPr>
          <p:cNvPr id="5" name="Picture 4">
            <a:extLst>
              <a:ext uri="{FF2B5EF4-FFF2-40B4-BE49-F238E27FC236}">
                <a16:creationId xmlns:a16="http://schemas.microsoft.com/office/drawing/2014/main" id="{5FA5FA5A-6018-4766-9A7E-507438B1B023}"/>
              </a:ext>
            </a:extLst>
          </p:cNvPr>
          <p:cNvPicPr>
            <a:picLocks noChangeAspect="1"/>
          </p:cNvPicPr>
          <p:nvPr/>
        </p:nvPicPr>
        <p:blipFill>
          <a:blip r:embed="rId3"/>
          <a:stretch>
            <a:fillRect/>
          </a:stretch>
        </p:blipFill>
        <p:spPr>
          <a:xfrm>
            <a:off x="1067294" y="6615551"/>
            <a:ext cx="10355120" cy="219106"/>
          </a:xfrm>
          <a:prstGeom prst="rect">
            <a:avLst/>
          </a:prstGeom>
        </p:spPr>
      </p:pic>
      <p:pic>
        <p:nvPicPr>
          <p:cNvPr id="6" name="Picture 5">
            <a:extLst>
              <a:ext uri="{FF2B5EF4-FFF2-40B4-BE49-F238E27FC236}">
                <a16:creationId xmlns:a16="http://schemas.microsoft.com/office/drawing/2014/main" id="{0F79069E-AAF0-4E57-8F77-30F4BFEDFDDA}"/>
              </a:ext>
            </a:extLst>
          </p:cNvPr>
          <p:cNvPicPr>
            <a:picLocks noChangeAspect="1"/>
          </p:cNvPicPr>
          <p:nvPr/>
        </p:nvPicPr>
        <p:blipFill>
          <a:blip r:embed="rId4"/>
          <a:stretch>
            <a:fillRect/>
          </a:stretch>
        </p:blipFill>
        <p:spPr>
          <a:xfrm>
            <a:off x="260913" y="1012215"/>
            <a:ext cx="5766689" cy="2815501"/>
          </a:xfrm>
          <a:prstGeom prst="rect">
            <a:avLst/>
          </a:prstGeom>
        </p:spPr>
      </p:pic>
      <p:pic>
        <p:nvPicPr>
          <p:cNvPr id="7" name="Picture 6">
            <a:extLst>
              <a:ext uri="{FF2B5EF4-FFF2-40B4-BE49-F238E27FC236}">
                <a16:creationId xmlns:a16="http://schemas.microsoft.com/office/drawing/2014/main" id="{1DC6AFA2-28A3-4C8C-8172-2F8273F79474}"/>
              </a:ext>
            </a:extLst>
          </p:cNvPr>
          <p:cNvPicPr>
            <a:picLocks noChangeAspect="1"/>
          </p:cNvPicPr>
          <p:nvPr/>
        </p:nvPicPr>
        <p:blipFill>
          <a:blip r:embed="rId5"/>
          <a:stretch>
            <a:fillRect/>
          </a:stretch>
        </p:blipFill>
        <p:spPr>
          <a:xfrm>
            <a:off x="6379535" y="998437"/>
            <a:ext cx="5188688" cy="2946242"/>
          </a:xfrm>
          <a:prstGeom prst="rect">
            <a:avLst/>
          </a:prstGeom>
        </p:spPr>
      </p:pic>
      <p:pic>
        <p:nvPicPr>
          <p:cNvPr id="8" name="Picture 7">
            <a:extLst>
              <a:ext uri="{FF2B5EF4-FFF2-40B4-BE49-F238E27FC236}">
                <a16:creationId xmlns:a16="http://schemas.microsoft.com/office/drawing/2014/main" id="{E3F0C6BF-857A-49C5-890C-89FC753084BB}"/>
              </a:ext>
            </a:extLst>
          </p:cNvPr>
          <p:cNvPicPr>
            <a:picLocks noChangeAspect="1"/>
          </p:cNvPicPr>
          <p:nvPr/>
        </p:nvPicPr>
        <p:blipFill>
          <a:blip r:embed="rId6"/>
          <a:stretch>
            <a:fillRect/>
          </a:stretch>
        </p:blipFill>
        <p:spPr>
          <a:xfrm>
            <a:off x="260913" y="3846750"/>
            <a:ext cx="5766689" cy="2773851"/>
          </a:xfrm>
          <a:prstGeom prst="rect">
            <a:avLst/>
          </a:prstGeom>
        </p:spPr>
      </p:pic>
      <p:pic>
        <p:nvPicPr>
          <p:cNvPr id="9" name="Picture 8">
            <a:extLst>
              <a:ext uri="{FF2B5EF4-FFF2-40B4-BE49-F238E27FC236}">
                <a16:creationId xmlns:a16="http://schemas.microsoft.com/office/drawing/2014/main" id="{EA0769E8-7385-4FA4-B45E-2866F184F868}"/>
              </a:ext>
            </a:extLst>
          </p:cNvPr>
          <p:cNvPicPr>
            <a:picLocks noChangeAspect="1"/>
          </p:cNvPicPr>
          <p:nvPr/>
        </p:nvPicPr>
        <p:blipFill>
          <a:blip r:embed="rId7"/>
          <a:stretch>
            <a:fillRect/>
          </a:stretch>
        </p:blipFill>
        <p:spPr>
          <a:xfrm>
            <a:off x="6379535" y="4029743"/>
            <a:ext cx="5188688" cy="254756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Conclusion</a:t>
            </a:r>
            <a:endParaRPr lang="en-US"/>
          </a:p>
        </p:txBody>
      </p:sp>
      <p:sp>
        <p:nvSpPr>
          <p:cNvPr id="5" name="Rectangle 2">
            <a:extLst>
              <a:ext uri="{FF2B5EF4-FFF2-40B4-BE49-F238E27FC236}">
                <a16:creationId xmlns:a16="http://schemas.microsoft.com/office/drawing/2014/main" id="{A6933346-DCE6-45D9-BFF9-D35CC30E6428}"/>
              </a:ext>
            </a:extLst>
          </p:cNvPr>
          <p:cNvSpPr>
            <a:spLocks noGrp="1" noChangeArrowheads="1"/>
          </p:cNvSpPr>
          <p:nvPr>
            <p:ph type="body" idx="1"/>
          </p:nvPr>
        </p:nvSpPr>
        <p:spPr bwMode="auto">
          <a:xfrm>
            <a:off x="200026" y="978764"/>
            <a:ext cx="11772234"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Automated Seasonal Detection: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Ecovision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accurately identifies seasons by analyzing plant images along with environmental parameters, reducing the need for manual observation.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Multimodal Data Integration: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system combines visual plant features with real-time climatic data such as temperature, humidity, rainfall, and soil moisture for improved prediction.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Overcoming Traditional Limitations: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It addresses the shortcomings of single-source methods, including image-only or weather-only approaches, ensuring more consistent results.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Deep Learning–Based Accuracy:</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Convolutional Neural Networks (CNNs) extract features from plant images, while machine learning processes climatic data, resulting in high prediction accuracy.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Wide Range of Applications: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Ecovision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can be used in agriculture for crop planning, in ecological research for monitoring plant phenology, and in biotechnology for experiments requiring seasonal context.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Sustainable Environmental Insights: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By providing reliable seasonal information, the system supports environmental monitoring and sustainable practices.</a:t>
            </a:r>
          </a:p>
        </p:txBody>
      </p:sp>
      <p:pic>
        <p:nvPicPr>
          <p:cNvPr id="3" name="Picture 2">
            <a:extLst>
              <a:ext uri="{FF2B5EF4-FFF2-40B4-BE49-F238E27FC236}">
                <a16:creationId xmlns:a16="http://schemas.microsoft.com/office/drawing/2014/main" id="{CCDF86EA-43DF-4FFE-85D6-C93E67B1BA46}"/>
              </a:ext>
            </a:extLst>
          </p:cNvPr>
          <p:cNvPicPr>
            <a:picLocks noChangeAspect="1"/>
          </p:cNvPicPr>
          <p:nvPr/>
        </p:nvPicPr>
        <p:blipFill>
          <a:blip r:embed="rId2"/>
          <a:stretch>
            <a:fillRect/>
          </a:stretch>
        </p:blipFill>
        <p:spPr>
          <a:xfrm>
            <a:off x="4009734" y="51924"/>
            <a:ext cx="4172532" cy="161948"/>
          </a:xfrm>
          <a:prstGeom prst="rect">
            <a:avLst/>
          </a:prstGeom>
        </p:spPr>
      </p:pic>
      <p:pic>
        <p:nvPicPr>
          <p:cNvPr id="4" name="Picture 3">
            <a:extLst>
              <a:ext uri="{FF2B5EF4-FFF2-40B4-BE49-F238E27FC236}">
                <a16:creationId xmlns:a16="http://schemas.microsoft.com/office/drawing/2014/main" id="{97B47836-94C7-4271-AE30-45C159A44987}"/>
              </a:ext>
            </a:extLst>
          </p:cNvPr>
          <p:cNvPicPr>
            <a:picLocks noChangeAspect="1"/>
          </p:cNvPicPr>
          <p:nvPr/>
        </p:nvPicPr>
        <p:blipFill>
          <a:blip r:embed="rId3"/>
          <a:stretch>
            <a:fillRect/>
          </a:stretch>
        </p:blipFill>
        <p:spPr>
          <a:xfrm>
            <a:off x="1152361" y="6615553"/>
            <a:ext cx="10355120" cy="21910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References</a:t>
            </a:r>
            <a:endParaRPr lang="en-US"/>
          </a:p>
        </p:txBody>
      </p:sp>
      <p:sp>
        <p:nvSpPr>
          <p:cNvPr id="3" name="Text Placeholder 2"/>
          <p:cNvSpPr>
            <a:spLocks noGrp="1"/>
          </p:cNvSpPr>
          <p:nvPr>
            <p:ph type="body" idx="1"/>
          </p:nvPr>
        </p:nvSpPr>
        <p:spPr/>
        <p:txBody>
          <a:bodyPr>
            <a:normAutofit fontScale="95000"/>
          </a:bodyPr>
          <a:lstStyle/>
          <a:p>
            <a:pPr marL="536575" lvl="1"/>
            <a:r>
              <a:rPr lang="en-US" altLang="en-US" dirty="0"/>
              <a:t>[1] </a:t>
            </a:r>
            <a:r>
              <a:rPr lang="en-US" altLang="en-US" dirty="0" err="1"/>
              <a:t>Dinov</a:t>
            </a:r>
            <a:r>
              <a:rPr lang="en-US" altLang="en-US" dirty="0"/>
              <a:t>, I. D. (2023). Data science and predictive analytics: Biomedical and health applications using R (2nd ed.). Springer.</a:t>
            </a:r>
          </a:p>
          <a:p>
            <a:pPr marL="536575" lvl="1"/>
            <a:r>
              <a:rPr lang="en-US" altLang="en-US" dirty="0"/>
              <a:t>[2] </a:t>
            </a:r>
            <a:r>
              <a:rPr lang="en-US" altLang="en-US" dirty="0" err="1"/>
              <a:t>Arun</a:t>
            </a:r>
            <a:r>
              <a:rPr lang="en-US" altLang="en-US" dirty="0"/>
              <a:t>, P. V., &amp; </a:t>
            </a:r>
            <a:r>
              <a:rPr lang="en-US" altLang="en-US" dirty="0" err="1"/>
              <a:t>Karnieli</a:t>
            </a:r>
            <a:r>
              <a:rPr lang="en-US" altLang="en-US" dirty="0"/>
              <a:t>, A. (2021). Deep learning-based </a:t>
            </a:r>
            <a:r>
              <a:rPr lang="en-US" altLang="en-US" dirty="0" err="1"/>
              <a:t>phenological</a:t>
            </a:r>
            <a:r>
              <a:rPr lang="en-US" altLang="en-US" dirty="0"/>
              <a:t> event modeling for classification of crops. Remote Sensing, 13(13), 2477.</a:t>
            </a:r>
          </a:p>
          <a:p>
            <a:pPr marL="536575" lvl="1"/>
            <a:r>
              <a:rPr lang="en-US" altLang="en-US" dirty="0"/>
              <a:t>[3] U.S. Environmental Protection Agency. (2025). Seasonality and observed climate change impacts across the United States: technical documentation summary. EPA, 12 May 2025.</a:t>
            </a:r>
          </a:p>
          <a:p>
            <a:pPr marL="536575" lvl="1"/>
            <a:r>
              <a:rPr lang="en-US" altLang="en-US" dirty="0"/>
              <a:t>[4] </a:t>
            </a:r>
            <a:r>
              <a:rPr lang="en-US" altLang="en-US" dirty="0" err="1"/>
              <a:t>Plekhanova</a:t>
            </a:r>
            <a:r>
              <a:rPr lang="en-US" altLang="en-US" dirty="0"/>
              <a:t>, E., Robert, D., </a:t>
            </a:r>
            <a:r>
              <a:rPr lang="en-US" altLang="en-US" dirty="0" err="1"/>
              <a:t>Dollinger</a:t>
            </a:r>
            <a:r>
              <a:rPr lang="en-US" altLang="en-US" dirty="0"/>
              <a:t>, J., </a:t>
            </a:r>
            <a:r>
              <a:rPr lang="en-US" altLang="en-US" dirty="0" err="1"/>
              <a:t>Arens</a:t>
            </a:r>
            <a:r>
              <a:rPr lang="en-US" altLang="en-US" dirty="0"/>
              <a:t>, E., </a:t>
            </a:r>
            <a:r>
              <a:rPr lang="en-US" altLang="en-US" dirty="0" err="1"/>
              <a:t>Brun</a:t>
            </a:r>
            <a:r>
              <a:rPr lang="en-US" altLang="en-US" dirty="0"/>
              <a:t>, P., Wegner, J. D., &amp; Zimmermann, N. (2025). SSL4Eco: A global seasonal dataset for geospatial foundation models in ecology. arXiv.</a:t>
            </a:r>
          </a:p>
          <a:p>
            <a:pPr marL="536575" indent="-381000"/>
            <a:endParaRPr lang="en-US" altLang="en-US" dirty="0"/>
          </a:p>
        </p:txBody>
      </p:sp>
      <p:pic>
        <p:nvPicPr>
          <p:cNvPr id="4" name="Picture 3">
            <a:extLst>
              <a:ext uri="{FF2B5EF4-FFF2-40B4-BE49-F238E27FC236}">
                <a16:creationId xmlns:a16="http://schemas.microsoft.com/office/drawing/2014/main" id="{12F78974-67A8-458A-AC89-15B8F40E5965}"/>
              </a:ext>
            </a:extLst>
          </p:cNvPr>
          <p:cNvPicPr>
            <a:picLocks noChangeAspect="1"/>
          </p:cNvPicPr>
          <p:nvPr/>
        </p:nvPicPr>
        <p:blipFill>
          <a:blip r:embed="rId2"/>
          <a:stretch>
            <a:fillRect/>
          </a:stretch>
        </p:blipFill>
        <p:spPr>
          <a:xfrm>
            <a:off x="4009734" y="41291"/>
            <a:ext cx="4172532" cy="161948"/>
          </a:xfrm>
          <a:prstGeom prst="rect">
            <a:avLst/>
          </a:prstGeom>
        </p:spPr>
      </p:pic>
      <p:pic>
        <p:nvPicPr>
          <p:cNvPr id="5" name="Picture 4">
            <a:extLst>
              <a:ext uri="{FF2B5EF4-FFF2-40B4-BE49-F238E27FC236}">
                <a16:creationId xmlns:a16="http://schemas.microsoft.com/office/drawing/2014/main" id="{2DC481DD-1A01-4D35-8CF4-8A37D1C93ACE}"/>
              </a:ext>
            </a:extLst>
          </p:cNvPr>
          <p:cNvPicPr>
            <a:picLocks noChangeAspect="1"/>
          </p:cNvPicPr>
          <p:nvPr/>
        </p:nvPicPr>
        <p:blipFill>
          <a:blip r:embed="rId3"/>
          <a:stretch>
            <a:fillRect/>
          </a:stretch>
        </p:blipFill>
        <p:spPr>
          <a:xfrm>
            <a:off x="1120463" y="6626177"/>
            <a:ext cx="10355120" cy="21910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 </a:t>
            </a:r>
          </a:p>
        </p:txBody>
      </p:sp>
      <p:sp>
        <p:nvSpPr>
          <p:cNvPr id="4" name="Text Placeholder 3"/>
          <p:cNvSpPr>
            <a:spLocks noGrp="1"/>
          </p:cNvSpPr>
          <p:nvPr>
            <p:ph type="body" idx="1"/>
          </p:nvPr>
        </p:nvSpPr>
        <p:spPr>
          <a:xfrm>
            <a:off x="0" y="2308860"/>
            <a:ext cx="12192635" cy="2952750"/>
          </a:xfrm>
        </p:spPr>
        <p:txBody>
          <a:bodyPr/>
          <a:lstStyle/>
          <a:p>
            <a:pPr marL="50800" indent="0" algn="ctr">
              <a:buNone/>
            </a:pPr>
            <a:r>
              <a:rPr lang="en-US" sz="12800" i="1" dirty="0">
                <a:ln w="15875"/>
                <a:solidFill>
                  <a:srgbClr val="F78F07"/>
                </a:solidFill>
                <a:effectLst/>
                <a:latin typeface="Times New Roman" panose="02020603050405020304" pitchFamily="18" charset="0"/>
                <a:cs typeface="Times New Roman" panose="02020603050405020304" pitchFamily="18" charset="0"/>
              </a:rPr>
              <a:t>Thank You</a:t>
            </a:r>
          </a:p>
        </p:txBody>
      </p:sp>
      <p:pic>
        <p:nvPicPr>
          <p:cNvPr id="3" name="Picture 2">
            <a:extLst>
              <a:ext uri="{FF2B5EF4-FFF2-40B4-BE49-F238E27FC236}">
                <a16:creationId xmlns:a16="http://schemas.microsoft.com/office/drawing/2014/main" id="{8174A04F-0398-4967-AA32-DC4B5053FF15}"/>
              </a:ext>
            </a:extLst>
          </p:cNvPr>
          <p:cNvPicPr>
            <a:picLocks noChangeAspect="1"/>
          </p:cNvPicPr>
          <p:nvPr/>
        </p:nvPicPr>
        <p:blipFill>
          <a:blip r:embed="rId2"/>
          <a:stretch>
            <a:fillRect/>
          </a:stretch>
        </p:blipFill>
        <p:spPr>
          <a:xfrm>
            <a:off x="4009734" y="51924"/>
            <a:ext cx="4172532" cy="161948"/>
          </a:xfrm>
          <a:prstGeom prst="rect">
            <a:avLst/>
          </a:prstGeom>
        </p:spPr>
      </p:pic>
      <p:pic>
        <p:nvPicPr>
          <p:cNvPr id="5" name="Picture 4">
            <a:extLst>
              <a:ext uri="{FF2B5EF4-FFF2-40B4-BE49-F238E27FC236}">
                <a16:creationId xmlns:a16="http://schemas.microsoft.com/office/drawing/2014/main" id="{2E78A84A-0DCA-44F7-9F60-21E6DB3F2960}"/>
              </a:ext>
            </a:extLst>
          </p:cNvPr>
          <p:cNvPicPr>
            <a:picLocks noChangeAspect="1"/>
          </p:cNvPicPr>
          <p:nvPr/>
        </p:nvPicPr>
        <p:blipFill>
          <a:blip r:embed="rId3"/>
          <a:stretch>
            <a:fillRect/>
          </a:stretch>
        </p:blipFill>
        <p:spPr>
          <a:xfrm>
            <a:off x="1173626" y="6615553"/>
            <a:ext cx="10355120" cy="219106"/>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 y="265814"/>
            <a:ext cx="12192000" cy="681837"/>
          </a:xfrm>
        </p:spPr>
        <p:txBody>
          <a:bodyPr/>
          <a:lstStyle/>
          <a:p>
            <a:r>
              <a:rPr lang="en-US"/>
              <a:t> </a:t>
            </a:r>
          </a:p>
        </p:txBody>
      </p:sp>
      <p:sp>
        <p:nvSpPr>
          <p:cNvPr id="4" name="Text Placeholder 3"/>
          <p:cNvSpPr>
            <a:spLocks noGrp="1"/>
          </p:cNvSpPr>
          <p:nvPr>
            <p:ph type="body" idx="1"/>
          </p:nvPr>
        </p:nvSpPr>
        <p:spPr>
          <a:xfrm>
            <a:off x="0" y="2308860"/>
            <a:ext cx="12192635" cy="2952750"/>
          </a:xfrm>
        </p:spPr>
        <p:txBody>
          <a:bodyPr/>
          <a:lstStyle/>
          <a:p>
            <a:pPr marL="50800" indent="0" algn="ctr">
              <a:buNone/>
            </a:pPr>
            <a:r>
              <a:rPr lang="en-US" sz="12800" i="1" dirty="0">
                <a:ln w="15875"/>
                <a:solidFill>
                  <a:srgbClr val="F78F07"/>
                </a:solidFill>
                <a:effectLst/>
                <a:latin typeface="Times New Roman" panose="02020603050405020304" pitchFamily="18" charset="0"/>
                <a:cs typeface="Times New Roman" panose="02020603050405020304" pitchFamily="18" charset="0"/>
              </a:rPr>
              <a:t>Any Queries</a:t>
            </a:r>
          </a:p>
        </p:txBody>
      </p:sp>
      <p:pic>
        <p:nvPicPr>
          <p:cNvPr id="3" name="Picture 2">
            <a:extLst>
              <a:ext uri="{FF2B5EF4-FFF2-40B4-BE49-F238E27FC236}">
                <a16:creationId xmlns:a16="http://schemas.microsoft.com/office/drawing/2014/main" id="{B2A2F8E9-55BE-47C4-BE62-CD47BAAEB723}"/>
              </a:ext>
            </a:extLst>
          </p:cNvPr>
          <p:cNvPicPr>
            <a:picLocks noChangeAspect="1"/>
          </p:cNvPicPr>
          <p:nvPr/>
        </p:nvPicPr>
        <p:blipFill>
          <a:blip r:embed="rId2"/>
          <a:stretch>
            <a:fillRect/>
          </a:stretch>
        </p:blipFill>
        <p:spPr>
          <a:xfrm>
            <a:off x="4009734" y="20029"/>
            <a:ext cx="4172532" cy="161948"/>
          </a:xfrm>
          <a:prstGeom prst="rect">
            <a:avLst/>
          </a:prstGeom>
        </p:spPr>
      </p:pic>
      <p:pic>
        <p:nvPicPr>
          <p:cNvPr id="5" name="Picture 4">
            <a:extLst>
              <a:ext uri="{FF2B5EF4-FFF2-40B4-BE49-F238E27FC236}">
                <a16:creationId xmlns:a16="http://schemas.microsoft.com/office/drawing/2014/main" id="{C3B865CC-7EEC-467E-BDDC-DC2C0FE5C8EC}"/>
              </a:ext>
            </a:extLst>
          </p:cNvPr>
          <p:cNvPicPr>
            <a:picLocks noChangeAspect="1"/>
          </p:cNvPicPr>
          <p:nvPr/>
        </p:nvPicPr>
        <p:blipFill>
          <a:blip r:embed="rId3"/>
          <a:stretch>
            <a:fillRect/>
          </a:stretch>
        </p:blipFill>
        <p:spPr>
          <a:xfrm>
            <a:off x="799293" y="6613452"/>
            <a:ext cx="10956768" cy="231836"/>
          </a:xfrm>
          <a:prstGeom prst="rect">
            <a:avLst/>
          </a:prstGeom>
        </p:spPr>
      </p:pic>
    </p:spTree>
  </p:cSld>
  <p:clrMapOvr>
    <a:masterClrMapping/>
  </p:clrMapOvr>
</p:sld>
</file>

<file path=ppt/theme/theme1.xml><?xml version="1.0" encoding="utf-8"?>
<a:theme xmlns:a="http://schemas.openxmlformats.org/drawingml/2006/main" name="Custom Design">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1280</TotalTime>
  <Words>1309</Words>
  <Application>Microsoft Office PowerPoint</Application>
  <PresentationFormat>Widescreen</PresentationFormat>
  <Paragraphs>92</Paragraphs>
  <Slides>19</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宋体</vt:lpstr>
      <vt:lpstr>Arial</vt:lpstr>
      <vt:lpstr>Calibri</vt:lpstr>
      <vt:lpstr>Courier New</vt:lpstr>
      <vt:lpstr>Noto Sans Symbols</vt:lpstr>
      <vt:lpstr>Times New Roman</vt:lpstr>
      <vt:lpstr>Custom Design</vt:lpstr>
      <vt:lpstr>PowerPoint Presentation</vt:lpstr>
      <vt:lpstr>Title Explanation</vt:lpstr>
      <vt:lpstr>Contents</vt:lpstr>
      <vt:lpstr>Abstract</vt:lpstr>
      <vt:lpstr>Introduction</vt:lpstr>
      <vt:lpstr>Software Requirements</vt:lpstr>
      <vt:lpstr>Datasets/Modules</vt:lpstr>
      <vt:lpstr>Implementation – Use Case Diagram</vt:lpstr>
      <vt:lpstr>Implementation – Class Diagram</vt:lpstr>
      <vt:lpstr>Implementation – Activity Diagram</vt:lpstr>
      <vt:lpstr>Implementation – Sequence Diagram</vt:lpstr>
      <vt:lpstr>Implementation – Collaboration Diagram</vt:lpstr>
      <vt:lpstr>Implementation – Component Diagram</vt:lpstr>
      <vt:lpstr>Implementation – Deployment Diagram</vt:lpstr>
      <vt:lpstr>Outputs</vt:lpstr>
      <vt:lpstr>Conclusion</vt:lpstr>
      <vt:lpstr>References</vt:lpstr>
      <vt:lpstr> </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 ❤️ L</dc:creator>
  <cp:lastModifiedBy>sharath vadde</cp:lastModifiedBy>
  <cp:revision>33</cp:revision>
  <dcterms:created xsi:type="dcterms:W3CDTF">2025-03-06T07:29:00Z</dcterms:created>
  <dcterms:modified xsi:type="dcterms:W3CDTF">2026-01-07T07:55:05Z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8A58E4632DEF4CE798132557BA146826_13</vt:lpwstr>
  </property>
  <property fmtid="{D5CDD505-2E9C-101B-9397-08002B2CF9AE}" pid="3" name="KSOProductBuildVer">
    <vt:lpwstr>1033-12.2.0.23196</vt:lpwstr>
  </property>
</Properties>
</file>